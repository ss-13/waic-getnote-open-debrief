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ebb8e934514417" /><Relationship Type="http://schemas.openxmlformats.org/officeDocument/2006/relationships/extended-properties" Target="/docProps/app.xml" Id="R1cc6bffefda34992" /><Relationship Type="http://schemas.openxmlformats.org/officeDocument/2006/relationships/officeDocument" Target="/ppt/presentation.xml" Id="Rbaa2608b92b749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714894d9624c5f"/>
  </p:sldMasterIdLst>
  <p:notesMasterIdLst>
    <p:notesMasterId xmlns:r="http://schemas.openxmlformats.org/officeDocument/2006/relationships" r:id="Rf277b04e36bb420f"/>
  </p:notesMasterIdLst>
  <p:sldIdLst>
    <p:sldId xmlns:r="http://schemas.openxmlformats.org/officeDocument/2006/relationships" id="256" r:id="Rf8f08c72cb6d4eb5"/>
    <p:sldId xmlns:r="http://schemas.openxmlformats.org/officeDocument/2006/relationships" id="257" r:id="R784fe04c27d44109"/>
    <p:sldId xmlns:r="http://schemas.openxmlformats.org/officeDocument/2006/relationships" id="258" r:id="R4d6454f4c2994418"/>
    <p:sldId xmlns:r="http://schemas.openxmlformats.org/officeDocument/2006/relationships" id="259" r:id="Raeadf2cce5dc42e3"/>
    <p:sldId xmlns:r="http://schemas.openxmlformats.org/officeDocument/2006/relationships" id="260" r:id="R841b98b46ba640a1"/>
    <p:sldId xmlns:r="http://schemas.openxmlformats.org/officeDocument/2006/relationships" id="261" r:id="R95f5ac3e89f74136"/>
    <p:sldId xmlns:r="http://schemas.openxmlformats.org/officeDocument/2006/relationships" id="262" r:id="R7723bad30dba4d73"/>
    <p:sldId xmlns:r="http://schemas.openxmlformats.org/officeDocument/2006/relationships" id="263" r:id="R0dbee22490204144"/>
    <p:sldId xmlns:r="http://schemas.openxmlformats.org/officeDocument/2006/relationships" id="264" r:id="R1b57e77ec36341ab"/>
    <p:sldId xmlns:r="http://schemas.openxmlformats.org/officeDocument/2006/relationships" id="265" r:id="Rd3cc547184db4b3a"/>
    <p:sldId xmlns:r="http://schemas.openxmlformats.org/officeDocument/2006/relationships" id="266" r:id="R2e2b977cc6a04e64"/>
    <p:sldId xmlns:r="http://schemas.openxmlformats.org/officeDocument/2006/relationships" id="267" r:id="R1433e47f93ac46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29c36607f64b1e" /><Relationship Type="http://schemas.openxmlformats.org/officeDocument/2006/relationships/slideMaster" Target="/ppt/slideMasters/slideMaster1.xml" Id="R06714894d9624c5f" /><Relationship Type="http://schemas.openxmlformats.org/officeDocument/2006/relationships/notesMaster" Target="/ppt/notesMasters/notesMaster1.xml" Id="Rf277b04e36bb420f" /><Relationship Type="http://schemas.openxmlformats.org/officeDocument/2006/relationships/presProps" Target="/ppt/presProps.xml" Id="Ra095e67ad55142c0" /><Relationship Type="http://schemas.openxmlformats.org/officeDocument/2006/relationships/tableStyles" Target="/ppt/tableStyles.xml" Id="R48a2dddae4d847f2" /><Relationship Type="http://schemas.openxmlformats.org/officeDocument/2006/relationships/slide" Target="/ppt/slides/slide1.xml" Id="Rf8f08c72cb6d4eb5" /><Relationship Type="http://schemas.openxmlformats.org/officeDocument/2006/relationships/slide" Target="/ppt/slides/slide2.xml" Id="R784fe04c27d44109" /><Relationship Type="http://schemas.openxmlformats.org/officeDocument/2006/relationships/slide" Target="/ppt/slides/slide3.xml" Id="R4d6454f4c2994418" /><Relationship Type="http://schemas.openxmlformats.org/officeDocument/2006/relationships/slide" Target="/ppt/slides/slide4.xml" Id="Raeadf2cce5dc42e3" /><Relationship Type="http://schemas.openxmlformats.org/officeDocument/2006/relationships/slide" Target="/ppt/slides/slide5.xml" Id="R841b98b46ba640a1" /><Relationship Type="http://schemas.openxmlformats.org/officeDocument/2006/relationships/slide" Target="/ppt/slides/slide6.xml" Id="R95f5ac3e89f74136" /><Relationship Type="http://schemas.openxmlformats.org/officeDocument/2006/relationships/slide" Target="/ppt/slides/slide7.xml" Id="R7723bad30dba4d73" /><Relationship Type="http://schemas.openxmlformats.org/officeDocument/2006/relationships/slide" Target="/ppt/slides/slide8.xml" Id="R0dbee22490204144" /><Relationship Type="http://schemas.openxmlformats.org/officeDocument/2006/relationships/slide" Target="/ppt/slides/slide9.xml" Id="R1b57e77ec36341ab" /><Relationship Type="http://schemas.openxmlformats.org/officeDocument/2006/relationships/slide" Target="/ppt/slides/slide10.xml" Id="Rd3cc547184db4b3a" /><Relationship Type="http://schemas.openxmlformats.org/officeDocument/2006/relationships/slide" Target="/ppt/slides/slide11.xml" Id="R2e2b977cc6a04e64" /><Relationship Type="http://schemas.openxmlformats.org/officeDocument/2006/relationships/slide" Target="/ppt/slides/slide12.xml" Id="R1433e47f93ac46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0a9f29875a45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d5acfa62b54a94" /><Relationship Type="http://schemas.openxmlformats.org/officeDocument/2006/relationships/notesMaster" Target="/ppt/notesMasters/notesMaster1.xml" Id="R6a723393d49346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3dfc70e3814202" /><Relationship Type="http://schemas.openxmlformats.org/officeDocument/2006/relationships/notesMaster" Target="/ppt/notesMasters/notesMaster1.xml" Id="Rcf6b5bd8c5134f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6cdc08d4ee4e0b" /><Relationship Type="http://schemas.openxmlformats.org/officeDocument/2006/relationships/notesMaster" Target="/ppt/notesMasters/notesMaster1.xml" Id="R45a21f322c5b47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fae739b37644ba" /><Relationship Type="http://schemas.openxmlformats.org/officeDocument/2006/relationships/notesMaster" Target="/ppt/notesMasters/notesMaster1.xml" Id="Rbe64dd309f7a4c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5621e9fdb94e42" /><Relationship Type="http://schemas.openxmlformats.org/officeDocument/2006/relationships/notesMaster" Target="/ppt/notesMasters/notesMaster1.xml" Id="R78cb6f91873e4a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30f77c8a144a7d" /><Relationship Type="http://schemas.openxmlformats.org/officeDocument/2006/relationships/notesMaster" Target="/ppt/notesMasters/notesMaster1.xml" Id="Rb3a7abf4bbc649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187485d2a54367" /><Relationship Type="http://schemas.openxmlformats.org/officeDocument/2006/relationships/notesMaster" Target="/ppt/notesMasters/notesMaster1.xml" Id="R64630bd1e7c840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a27efdd73d4d99" /><Relationship Type="http://schemas.openxmlformats.org/officeDocument/2006/relationships/notesMaster" Target="/ppt/notesMasters/notesMaster1.xml" Id="R8ed3875476d54b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7211f6e4a74302" /><Relationship Type="http://schemas.openxmlformats.org/officeDocument/2006/relationships/notesMaster" Target="/ppt/notesMasters/notesMaster1.xml" Id="Re04a2e32f88743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653a0534cb4688" /><Relationship Type="http://schemas.openxmlformats.org/officeDocument/2006/relationships/notesMaster" Target="/ppt/notesMasters/notesMaster1.xml" Id="R9ce1675fe4464a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28b029333e48f9" /><Relationship Type="http://schemas.openxmlformats.org/officeDocument/2006/relationships/notesMaster" Target="/ppt/notesMasters/notesMaster1.xml" Id="Rcbcb2c4d2fdb4e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1443d1faa24b0e" /><Relationship Type="http://schemas.openxmlformats.org/officeDocument/2006/relationships/notesMaster" Target="/ppt/notesMasters/notesMaster1.xml" Id="R36c8922f625a49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86e70529148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c6f1688e114a7d" /><Relationship Type="http://schemas.openxmlformats.org/officeDocument/2006/relationships/slideLayout" Target="/ppt/slideLayouts/slideLayout1.xml" Id="Rcb5427ff8c094b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5427ff8c094b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d636eb96946ff" /><Relationship Type="http://schemas.openxmlformats.org/officeDocument/2006/relationships/notesSlide" Target="/ppt/notesSlides/notesSlide1.xml" Id="R3e9858a7dec143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b4b9d2bca49b3" /><Relationship Type="http://schemas.openxmlformats.org/officeDocument/2006/relationships/notesSlide" Target="/ppt/notesSlides/notesSlide2.xml" Id="R55ef82fe88c748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fa34288d74e10" /><Relationship Type="http://schemas.openxmlformats.org/officeDocument/2006/relationships/notesSlide" Target="/ppt/notesSlides/notesSlide3.xml" Id="Rdb4c4e6928ce4e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a4dcc97814d14" /><Relationship Type="http://schemas.openxmlformats.org/officeDocument/2006/relationships/notesSlide" Target="/ppt/notesSlides/notesSlide4.xml" Id="R4a1253b9dc7b46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4e8557359475b" /><Relationship Type="http://schemas.openxmlformats.org/officeDocument/2006/relationships/notesSlide" Target="/ppt/notesSlides/notesSlide5.xml" Id="Re6fbda94c14e4d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adb30e67d499f" /><Relationship Type="http://schemas.openxmlformats.org/officeDocument/2006/relationships/notesSlide" Target="/ppt/notesSlides/notesSlide6.xml" Id="R6e400d72b4b940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9dabf991146d1" /><Relationship Type="http://schemas.openxmlformats.org/officeDocument/2006/relationships/notesSlide" Target="/ppt/notesSlides/notesSlide7.xml" Id="R74dbdb95a5b74b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900922b964612" /><Relationship Type="http://schemas.openxmlformats.org/officeDocument/2006/relationships/notesSlide" Target="/ppt/notesSlides/notesSlide8.xml" Id="R8b89dbb5b5c04d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906a0b9644f3c" /><Relationship Type="http://schemas.openxmlformats.org/officeDocument/2006/relationships/notesSlide" Target="/ppt/notesSlides/notesSlide9.xml" Id="Rdf7b5b96a18f42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3cd00e16d4fb9" /><Relationship Type="http://schemas.openxmlformats.org/officeDocument/2006/relationships/notesSlide" Target="/ppt/notesSlides/notesSlide10.xml" Id="R2d7cf759f11442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99a8b180a46e9" /><Relationship Type="http://schemas.openxmlformats.org/officeDocument/2006/relationships/notesSlide" Target="/ppt/notesSlides/notesSlide11.xml" Id="R7121d4c5510b47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4d39f60244b22" /><Relationship Type="http://schemas.openxmlformats.org/officeDocument/2006/relationships/notesSlide" Target="/ppt/notesSlides/notesSlide12.xml" Id="Rc5a2ed4f68a24a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ver-left-blue">
            <a:extLst xmlns:a="http://schemas.openxmlformats.org/drawingml/2006/main">
              <a:ext uri="{FF2B5EF4-FFF2-40B4-BE49-F238E27FC236}">
                <a16:creationId xmlns:a16="http://schemas.microsoft.com/office/drawing/2014/main" id="{318E9692-B221-4A5D-AC52-01C52E15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13E0325-AAFA-425B-95E0-EE134EEE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4191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跨年证据整理 / 2018–2026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4A6334B-973B-4C07-942F-3F42C933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6429375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AI 怎样进入</a:t>
            </a:r>
          </a:p>
          <a:p xmlns:a="http://schemas.openxmlformats.org/drawingml/2006/main">
            <a:pPr algn="l">
              <a:defRPr sz="50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普通人的生活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C812790-8F75-4D60-A90A-D2D90F04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81425"/>
            <a:ext cx="609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WAIC 九年变化：入口、任务、载体与责任边界一起改变</a:t>
            </a:r>
          </a:p>
        </p:txBody>
      </p:sp>
      <p:sp>
        <p:nvSpPr>
          <p:cNvPr id="5" name="cover-main-rule">
            <a:extLst xmlns:a="http://schemas.openxmlformats.org/drawingml/2006/main">
              <a:ext uri="{FF2B5EF4-FFF2-40B4-BE49-F238E27FC236}">
                <a16:creationId xmlns:a16="http://schemas.microsoft.com/office/drawing/2014/main" id="{2BFEC8F3-F622-4110-9855-ACB88508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541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words">
            <a:extLst xmlns:a="http://schemas.openxmlformats.org/drawingml/2006/main">
              <a:ext uri="{FF2B5EF4-FFF2-40B4-BE49-F238E27FC236}">
                <a16:creationId xmlns:a16="http://schemas.microsoft.com/office/drawing/2014/main" id="{893C5769-4BBD-4B37-A4EA-881518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619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入口  →  任务  →  载体  →  责任</a:t>
            </a:r>
          </a:p>
        </p:txBody>
      </p:sp>
      <p:sp>
        <p:nvSpPr>
          <p:cNvPr id="7" name="cover-side">
            <a:extLst xmlns:a="http://schemas.openxmlformats.org/drawingml/2006/main">
              <a:ext uri="{FF2B5EF4-FFF2-40B4-BE49-F238E27FC236}">
                <a16:creationId xmlns:a16="http://schemas.microsoft.com/office/drawing/2014/main" id="{5842F845-6DC6-42BA-9477-39535065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0"/>
            <a:ext cx="45624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204D84DA-741E-42DA-B85C-BBE17469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90650"/>
            <a:ext cx="2171700" cy="2171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1BAF6146-1C0D-406B-9DA7-124C28B6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8954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axis-x">
            <a:extLst xmlns:a="http://schemas.openxmlformats.org/drawingml/2006/main">
              <a:ext uri="{FF2B5EF4-FFF2-40B4-BE49-F238E27FC236}">
                <a16:creationId xmlns:a16="http://schemas.microsoft.com/office/drawing/2014/main" id="{8EDD12AD-B8CC-48FE-B6AE-18F7FCC9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axis-y">
            <a:extLst xmlns:a="http://schemas.openxmlformats.org/drawingml/2006/main">
              <a:ext uri="{FF2B5EF4-FFF2-40B4-BE49-F238E27FC236}">
                <a16:creationId xmlns:a16="http://schemas.microsoft.com/office/drawing/2014/main" id="{4D3BAC71-EF72-4E71-9100-AF7AC836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143250"/>
            <a:ext cx="285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2018">
            <a:extLst xmlns:a="http://schemas.openxmlformats.org/drawingml/2006/main">
              <a:ext uri="{FF2B5EF4-FFF2-40B4-BE49-F238E27FC236}">
                <a16:creationId xmlns:a16="http://schemas.microsoft.com/office/drawing/2014/main" id="{95CD8CA9-17D3-4CEE-AA48-5771C95F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91000"/>
            <a:ext cx="904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2018</a:t>
            </a:r>
          </a:p>
        </p:txBody>
      </p:sp>
      <p:sp>
        <p:nvSpPr>
          <p:cNvPr id="13" name="cover-2026">
            <a:extLst xmlns:a="http://schemas.openxmlformats.org/drawingml/2006/main">
              <a:ext uri="{FF2B5EF4-FFF2-40B4-BE49-F238E27FC236}">
                <a16:creationId xmlns:a16="http://schemas.microsoft.com/office/drawing/2014/main" id="{1A54E5F0-6EEC-4F79-9E83-40C5FC4B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191000"/>
            <a:ext cx="904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2026</a:t>
            </a:r>
          </a:p>
        </p:txBody>
      </p:sp>
      <p:sp>
        <p:nvSpPr>
          <p:cNvPr id="14" name="cover-note">
            <a:extLst xmlns:a="http://schemas.openxmlformats.org/drawingml/2006/main">
              <a:ext uri="{FF2B5EF4-FFF2-40B4-BE49-F238E27FC236}">
                <a16:creationId xmlns:a16="http://schemas.microsoft.com/office/drawing/2014/main" id="{E7C6D6F3-1A72-4521-B3C6-2909020A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29250"/>
            <a:ext cx="304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报告版 / 不将展会展示直接等同于社会普及</a:t>
            </a:r>
          </a:p>
        </p:txBody>
      </p:sp>
      <p:sp>
        <p:nvSpPr>
          <p:cNvPr id="15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5761EF25-5167-44E3-9558-F9B75606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437EBDE7-A2F6-444F-918B-7568F062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42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资料范围：835 篇 1-raw/ 记录与 25 篇 2-data/ 补充材料</a:t>
            </a:r>
          </a:p>
        </p:txBody>
      </p:sp>
      <p:sp>
        <p:nvSpPr>
          <p:cNvPr id="17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84C452CF-D61A-4126-9E3A-2C9E9448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1670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AI 的变化，不只是“模型更强”">
            <a:extLst xmlns:a="http://schemas.openxmlformats.org/drawingml/2006/main">
              <a:ext uri="{FF2B5EF4-FFF2-40B4-BE49-F238E27FC236}">
                <a16:creationId xmlns:a16="http://schemas.microsoft.com/office/drawing/2014/main" id="{44B57565-C8B9-4846-89E3-B9AC0474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核心判断</a:t>
            </a:r>
          </a:p>
        </p:txBody>
      </p:sp>
      <p:sp>
        <p:nvSpPr>
          <p:cNvPr id="2" name="title-AI 的变化，不只是“模型更强”">
            <a:extLst xmlns:a="http://schemas.openxmlformats.org/drawingml/2006/main">
              <a:ext uri="{FF2B5EF4-FFF2-40B4-BE49-F238E27FC236}">
                <a16:creationId xmlns:a16="http://schemas.microsoft.com/office/drawing/2014/main" id="{4B180632-926F-4F2B-B0A8-BE05ABE7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AI 的变化，不只是“模型更强”</a:t>
            </a:r>
          </a:p>
        </p:txBody>
      </p:sp>
      <p:sp>
        <p:nvSpPr>
          <p:cNvPr id="3" name="title-rule-AI 的变化，不只是“模型更强”">
            <a:extLst xmlns:a="http://schemas.openxmlformats.org/drawingml/2006/main">
              <a:ext uri="{FF2B5EF4-FFF2-40B4-BE49-F238E27FC236}">
                <a16:creationId xmlns:a16="http://schemas.microsoft.com/office/drawing/2014/main" id="{F0F9DFB2-035C-4C80-B5AB-F5EFBB8B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keaway-lead">
            <a:extLst xmlns:a="http://schemas.openxmlformats.org/drawingml/2006/main">
              <a:ext uri="{FF2B5EF4-FFF2-40B4-BE49-F238E27FC236}">
                <a16:creationId xmlns:a16="http://schemas.microsoft.com/office/drawing/2014/main" id="{833869A6-B818-4D04-9B30-AD7D7430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0572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WAIC 记录的真正变化，是 AI 的入口、任务边界、载体和责任边界一起变化。</a:t>
            </a:r>
          </a:p>
        </p:txBody>
      </p:sp>
      <p:sp>
        <p:nvSpPr>
          <p:cNvPr id="5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6E61D241-FC21-4C6F-ADF3-F34FB2F3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17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and-入口">
            <a:extLst xmlns:a="http://schemas.openxmlformats.org/drawingml/2006/main">
              <a:ext uri="{FF2B5EF4-FFF2-40B4-BE49-F238E27FC236}">
                <a16:creationId xmlns:a16="http://schemas.microsoft.com/office/drawing/2014/main" id="{24791888-D346-4384-AE6E-B9683477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31908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d-label-入口">
            <a:extLst xmlns:a="http://schemas.openxmlformats.org/drawingml/2006/main">
              <a:ext uri="{FF2B5EF4-FFF2-40B4-BE49-F238E27FC236}">
                <a16:creationId xmlns:a16="http://schemas.microsoft.com/office/drawing/2014/main" id="{0F69CB9C-FD85-4A8B-8513-4857763D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27717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入口</a:t>
            </a:r>
          </a:p>
        </p:txBody>
      </p:sp>
      <p:sp>
        <p:nvSpPr>
          <p:cNvPr id="8" name="band-body-入口">
            <a:extLst xmlns:a="http://schemas.openxmlformats.org/drawingml/2006/main">
              <a:ext uri="{FF2B5EF4-FFF2-40B4-BE49-F238E27FC236}">
                <a16:creationId xmlns:a16="http://schemas.microsoft.com/office/drawing/2014/main" id="{4DE3DE8B-5FB8-4F71-A59A-4AA58DBF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7717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从菜单和表单，走向用自然语言表达意图。</a:t>
            </a:r>
          </a:p>
        </p:txBody>
      </p:sp>
      <p:sp>
        <p:nvSpPr>
          <p:cNvPr id="9" name="band-任务">
            <a:extLst xmlns:a="http://schemas.openxmlformats.org/drawingml/2006/main">
              <a:ext uri="{FF2B5EF4-FFF2-40B4-BE49-F238E27FC236}">
                <a16:creationId xmlns:a16="http://schemas.microsoft.com/office/drawing/2014/main" id="{CFDF4C6E-B11F-4D6F-863E-C17B7317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90875"/>
            <a:ext cx="31908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nd-label-任务">
            <a:extLst xmlns:a="http://schemas.openxmlformats.org/drawingml/2006/main">
              <a:ext uri="{FF2B5EF4-FFF2-40B4-BE49-F238E27FC236}">
                <a16:creationId xmlns:a16="http://schemas.microsoft.com/office/drawing/2014/main" id="{CE5D6C35-4A97-4D84-82F6-DD3451BC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362325"/>
            <a:ext cx="27717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任务</a:t>
            </a:r>
          </a:p>
        </p:txBody>
      </p:sp>
      <p:sp>
        <p:nvSpPr>
          <p:cNvPr id="11" name="band-body-任务">
            <a:extLst xmlns:a="http://schemas.openxmlformats.org/drawingml/2006/main">
              <a:ext uri="{FF2B5EF4-FFF2-40B4-BE49-F238E27FC236}">
                <a16:creationId xmlns:a16="http://schemas.microsoft.com/office/drawing/2014/main" id="{B0CCAF30-CF55-4058-938A-6ABBBCC5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27717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从识别与推荐，走向生成、调用工具与执行。</a:t>
            </a:r>
          </a:p>
        </p:txBody>
      </p:sp>
      <p:sp>
        <p:nvSpPr>
          <p:cNvPr id="12" name="band-责任">
            <a:extLst xmlns:a="http://schemas.openxmlformats.org/drawingml/2006/main">
              <a:ext uri="{FF2B5EF4-FFF2-40B4-BE49-F238E27FC236}">
                <a16:creationId xmlns:a16="http://schemas.microsoft.com/office/drawing/2014/main" id="{BA131292-1EEB-452D-A233-EB75FBAE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90875"/>
            <a:ext cx="31908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and-label-责任">
            <a:extLst xmlns:a="http://schemas.openxmlformats.org/drawingml/2006/main">
              <a:ext uri="{FF2B5EF4-FFF2-40B4-BE49-F238E27FC236}">
                <a16:creationId xmlns:a16="http://schemas.microsoft.com/office/drawing/2014/main" id="{D49B6E22-DD20-4A42-86F7-0AC2F2C6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62325"/>
            <a:ext cx="27717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责任</a:t>
            </a:r>
          </a:p>
        </p:txBody>
      </p:sp>
      <p:sp>
        <p:nvSpPr>
          <p:cNvPr id="14" name="band-body-责任">
            <a:extLst xmlns:a="http://schemas.openxmlformats.org/drawingml/2006/main">
              <a:ext uri="{FF2B5EF4-FFF2-40B4-BE49-F238E27FC236}">
                <a16:creationId xmlns:a16="http://schemas.microsoft.com/office/drawing/2014/main" id="{568A4095-5ECF-43A9-B93C-2081D925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77177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从“答案对不对”，走向权限、日志、救济与接管。</a:t>
            </a:r>
          </a:p>
        </p:txBody>
      </p:sp>
      <p:sp>
        <p:nvSpPr>
          <p:cNvPr id="15" name="takeaway-bottom">
            <a:extLst xmlns:a="http://schemas.openxmlformats.org/drawingml/2006/main">
              <a:ext uri="{FF2B5EF4-FFF2-40B4-BE49-F238E27FC236}">
                <a16:creationId xmlns:a16="http://schemas.microsoft.com/office/drawing/2014/main" id="{364000B5-1AC2-4643-A2D4-41C4DA98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81575"/>
            <a:ext cx="11096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keaway-bottom-label">
            <a:extLst xmlns:a="http://schemas.openxmlformats.org/drawingml/2006/main">
              <a:ext uri="{FF2B5EF4-FFF2-40B4-BE49-F238E27FC236}">
                <a16:creationId xmlns:a16="http://schemas.microsoft.com/office/drawing/2014/main" id="{5C9AEF07-901B-498F-9417-87A1ED9D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1762125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D8F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最重要的现实判断</a:t>
            </a:r>
          </a:p>
        </p:txBody>
      </p:sp>
      <p:sp>
        <p:nvSpPr>
          <p:cNvPr id="17" name="takeaway-bottom-text">
            <a:extLst xmlns:a="http://schemas.openxmlformats.org/drawingml/2006/main">
              <a:ext uri="{FF2B5EF4-FFF2-40B4-BE49-F238E27FC236}">
                <a16:creationId xmlns:a16="http://schemas.microsoft.com/office/drawing/2014/main" id="{601B06E2-20AA-45D6-8FDB-929426A9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143500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大会能显示技术与产业供给走向，不能单独证明社会已经普遍采用。</a:t>
            </a:r>
          </a:p>
        </p:txBody>
      </p:sp>
      <p:sp>
        <p:nvSpPr>
          <p:cNvPr id="1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D6625C5-02A8-4F83-B30D-6DA285F6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5F24B8EC-157B-469B-94BB-FE9FAD01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42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资料：WAIC 2018–2026 材料整理；详见配套报告 S01–S19</a:t>
            </a:r>
          </a:p>
        </p:txBody>
      </p:sp>
      <p:sp>
        <p:nvSpPr>
          <p:cNvPr id="2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7B5522B3-F2BC-4F04-9BA7-387CEE15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8261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2018–2019：AI 先作为“行业能力”进入视野">
            <a:extLst xmlns:a="http://schemas.openxmlformats.org/drawingml/2006/main">
              <a:ext uri="{FF2B5EF4-FFF2-40B4-BE49-F238E27FC236}">
                <a16:creationId xmlns:a16="http://schemas.microsoft.com/office/drawing/2014/main" id="{AD6B17AC-2BA4-408B-8E69-C3DDAF27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第一阶段</a:t>
            </a:r>
          </a:p>
        </p:txBody>
      </p:sp>
      <p:sp>
        <p:nvSpPr>
          <p:cNvPr id="2" name="title-2018–2019：AI 先作为“行业能力”进入视野">
            <a:extLst xmlns:a="http://schemas.openxmlformats.org/drawingml/2006/main">
              <a:ext uri="{FF2B5EF4-FFF2-40B4-BE49-F238E27FC236}">
                <a16:creationId xmlns:a16="http://schemas.microsoft.com/office/drawing/2014/main" id="{515C1D8B-5ADC-4130-B648-7BB3F7D9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2018–2019：AI 先作为“行业能力”进入视野</a:t>
            </a:r>
          </a:p>
        </p:txBody>
      </p:sp>
      <p:sp>
        <p:nvSpPr>
          <p:cNvPr id="3" name="title-rule-2018–2019：AI 先作为“行业能力”进入视野">
            <a:extLst xmlns:a="http://schemas.openxmlformats.org/drawingml/2006/main">
              <a:ext uri="{FF2B5EF4-FFF2-40B4-BE49-F238E27FC236}">
                <a16:creationId xmlns:a16="http://schemas.microsoft.com/office/drawing/2014/main" id="{748DC879-45A0-4613-8649-D924590F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arly-lead">
            <a:extLst xmlns:a="http://schemas.openxmlformats.org/drawingml/2006/main">
              <a:ext uri="{FF2B5EF4-FFF2-40B4-BE49-F238E27FC236}">
                <a16:creationId xmlns:a16="http://schemas.microsoft.com/office/drawing/2014/main" id="{02A9709F-B350-4F18-8FC2-23A58106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571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展会里的主角是视觉识别、语音、推荐、服务机器人，以及医疗、零售、交通等“AI+行业”场景。</a:t>
            </a:r>
          </a:p>
        </p:txBody>
      </p:sp>
      <p:sp>
        <p:nvSpPr>
          <p:cNvPr id="5" name="early-v">
            <a:extLst xmlns:a="http://schemas.openxmlformats.org/drawingml/2006/main">
              <a:ext uri="{FF2B5EF4-FFF2-40B4-BE49-F238E27FC236}">
                <a16:creationId xmlns:a16="http://schemas.microsoft.com/office/drawing/2014/main" id="{A7363616-05DC-478A-992A-BB5F4BFD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828800"/>
            <a:ext cx="95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arly-2018">
            <a:extLst xmlns:a="http://schemas.openxmlformats.org/drawingml/2006/main">
              <a:ext uri="{FF2B5EF4-FFF2-40B4-BE49-F238E27FC236}">
                <a16:creationId xmlns:a16="http://schemas.microsoft.com/office/drawing/2014/main" id="{B2A407D2-52FD-4E89-BECA-331B5335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0025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2018</a:t>
            </a:r>
          </a:p>
        </p:txBody>
      </p:sp>
      <p:sp>
        <p:nvSpPr>
          <p:cNvPr id="7" name="early-2018-body">
            <a:extLst xmlns:a="http://schemas.openxmlformats.org/drawingml/2006/main">
              <a:ext uri="{FF2B5EF4-FFF2-40B4-BE49-F238E27FC236}">
                <a16:creationId xmlns:a16="http://schemas.microsoft.com/office/drawing/2014/main" id="{0DA6D2EF-9662-4B71-8BF9-F4FC82C5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52700"/>
            <a:ext cx="3857625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移动端导览、公共空间数字服务、机器人互动和面向特定行业的样机出现。</a:t>
            </a:r>
          </a:p>
        </p:txBody>
      </p:sp>
      <p:sp>
        <p:nvSpPr>
          <p:cNvPr id="8" name="early-2019">
            <a:extLst xmlns:a="http://schemas.openxmlformats.org/drawingml/2006/main">
              <a:ext uri="{FF2B5EF4-FFF2-40B4-BE49-F238E27FC236}">
                <a16:creationId xmlns:a16="http://schemas.microsoft.com/office/drawing/2014/main" id="{9E9F6FF9-2B21-4E41-B9A6-B77A21BF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8620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2019</a:t>
            </a:r>
          </a:p>
        </p:txBody>
      </p:sp>
      <p:sp>
        <p:nvSpPr>
          <p:cNvPr id="9" name="early-2019-body">
            <a:extLst xmlns:a="http://schemas.openxmlformats.org/drawingml/2006/main">
              <a:ext uri="{FF2B5EF4-FFF2-40B4-BE49-F238E27FC236}">
                <a16:creationId xmlns:a16="http://schemas.microsoft.com/office/drawing/2014/main" id="{EA6ACF12-2A6A-46CE-86F4-D00952BD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38650"/>
            <a:ext cx="3857625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应用开始组织成论坛、赛事和产业协作；伦理、安全、法律与社会责任成为独立议题。</a:t>
            </a:r>
          </a:p>
        </p:txBody>
      </p:sp>
      <p:sp>
        <p:nvSpPr>
          <p:cNvPr id="10" name="early-dot-1">
            <a:extLst xmlns:a="http://schemas.openxmlformats.org/drawingml/2006/main">
              <a:ext uri="{FF2B5EF4-FFF2-40B4-BE49-F238E27FC236}">
                <a16:creationId xmlns:a16="http://schemas.microsoft.com/office/drawing/2014/main" id="{76DF811E-9D83-4B40-A620-52C660B2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26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arly-dot-2">
            <a:extLst xmlns:a="http://schemas.openxmlformats.org/drawingml/2006/main">
              <a:ext uri="{FF2B5EF4-FFF2-40B4-BE49-F238E27FC236}">
                <a16:creationId xmlns:a16="http://schemas.microsoft.com/office/drawing/2014/main" id="{F8827B38-2D22-4E04-984E-78850031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1624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arly-bottom">
            <a:extLst xmlns:a="http://schemas.openxmlformats.org/drawingml/2006/main">
              <a:ext uri="{FF2B5EF4-FFF2-40B4-BE49-F238E27FC236}">
                <a16:creationId xmlns:a16="http://schemas.microsoft.com/office/drawing/2014/main" id="{DD66A92E-CDF1-427F-A328-1F2B4F03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057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普通人当时主要在展会、园区、手机功能和城市试点中看见 AI；大多数仍是按场景部署的系统。</a:t>
            </a:r>
          </a:p>
        </p:txBody>
      </p:sp>
      <p:sp>
        <p:nvSpPr>
          <p:cNvPr id="1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623FEE5A-24CA-42D8-BF5F-0CD2C632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B942A31F-220C-4479-AEDB-82D59D53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42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来源：S01、S02、S03；完整路径见配套报告“主要来源”</a:t>
            </a:r>
          </a:p>
        </p:txBody>
      </p:sp>
      <p:sp>
        <p:nvSpPr>
          <p:cNvPr id="1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2435423E-BEFC-4E1D-9197-512ECD03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1948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2020–2022：AI 转入云端、工作流与城市后台">
            <a:extLst xmlns:a="http://schemas.openxmlformats.org/drawingml/2006/main">
              <a:ext uri="{FF2B5EF4-FFF2-40B4-BE49-F238E27FC236}">
                <a16:creationId xmlns:a16="http://schemas.microsoft.com/office/drawing/2014/main" id="{3F778007-6CB4-4B96-A998-6D0E9DC6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第二阶段</a:t>
            </a:r>
          </a:p>
        </p:txBody>
      </p:sp>
      <p:sp>
        <p:nvSpPr>
          <p:cNvPr id="2" name="title-2020–2022：AI 转入云端、工作流与城市后台">
            <a:extLst xmlns:a="http://schemas.openxmlformats.org/drawingml/2006/main">
              <a:ext uri="{FF2B5EF4-FFF2-40B4-BE49-F238E27FC236}">
                <a16:creationId xmlns:a16="http://schemas.microsoft.com/office/drawing/2014/main" id="{B6393794-D719-4C62-9B82-E1CB7995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2020–2022：AI 转入云端、工作流与城市后台</a:t>
            </a:r>
          </a:p>
        </p:txBody>
      </p:sp>
      <p:sp>
        <p:nvSpPr>
          <p:cNvPr id="3" name="title-rule-2020–2022：AI 转入云端、工作流与城市后台">
            <a:extLst xmlns:a="http://schemas.openxmlformats.org/drawingml/2006/main">
              <a:ext uri="{FF2B5EF4-FFF2-40B4-BE49-F238E27FC236}">
                <a16:creationId xmlns:a16="http://schemas.microsoft.com/office/drawing/2014/main" id="{65E1C298-0F55-47D2-AA91-533CCC1F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ud-lead">
            <a:extLst xmlns:a="http://schemas.openxmlformats.org/drawingml/2006/main">
              <a:ext uri="{FF2B5EF4-FFF2-40B4-BE49-F238E27FC236}">
                <a16:creationId xmlns:a16="http://schemas.microsoft.com/office/drawing/2014/main" id="{A20EB440-3985-4188-B336-E9DDE6AF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81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变化的重心不再只是可体验展品，而是远程协作、重复流程自动化和公共服务数字化。</a:t>
            </a:r>
          </a:p>
        </p:txBody>
      </p:sp>
      <p:sp>
        <p:nvSpPr>
          <p:cNvPr id="5" name="cloud-line">
            <a:extLst xmlns:a="http://schemas.openxmlformats.org/drawingml/2006/main">
              <a:ext uri="{FF2B5EF4-FFF2-40B4-BE49-F238E27FC236}">
                <a16:creationId xmlns:a16="http://schemas.microsoft.com/office/drawing/2014/main" id="{5ACB353B-7B92-47DB-8100-5B77CB2D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ud-dot-20">
            <a:extLst xmlns:a="http://schemas.openxmlformats.org/drawingml/2006/main">
              <a:ext uri="{FF2B5EF4-FFF2-40B4-BE49-F238E27FC236}">
                <a16:creationId xmlns:a16="http://schemas.microsoft.com/office/drawing/2014/main" id="{F0F54261-4D75-4C3A-8537-FB276B5D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ud-dot-21">
            <a:extLst xmlns:a="http://schemas.openxmlformats.org/drawingml/2006/main">
              <a:ext uri="{FF2B5EF4-FFF2-40B4-BE49-F238E27FC236}">
                <a16:creationId xmlns:a16="http://schemas.microsoft.com/office/drawing/2014/main" id="{A5FCDFF8-C124-4429-B49C-13D942A6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ud-dot-22">
            <a:extLst xmlns:a="http://schemas.openxmlformats.org/drawingml/2006/main">
              <a:ext uri="{FF2B5EF4-FFF2-40B4-BE49-F238E27FC236}">
                <a16:creationId xmlns:a16="http://schemas.microsoft.com/office/drawing/2014/main" id="{4950FC94-3611-48F5-B1D4-A5FF3C62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19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oud-y20">
            <a:extLst xmlns:a="http://schemas.openxmlformats.org/drawingml/2006/main">
              <a:ext uri="{FF2B5EF4-FFF2-40B4-BE49-F238E27FC236}">
                <a16:creationId xmlns:a16="http://schemas.microsoft.com/office/drawing/2014/main" id="{BE74BF25-492B-440E-B964-737AA1F5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2020</a:t>
            </a:r>
          </a:p>
        </p:txBody>
      </p:sp>
      <p:sp>
        <p:nvSpPr>
          <p:cNvPr id="10" name="cloud-b20">
            <a:extLst xmlns:a="http://schemas.openxmlformats.org/drawingml/2006/main">
              <a:ext uri="{FF2B5EF4-FFF2-40B4-BE49-F238E27FC236}">
                <a16:creationId xmlns:a16="http://schemas.microsoft.com/office/drawing/2014/main" id="{14B6D47D-8CBC-41B3-91A2-EE83E713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38125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云端峰会、3D 会场、远程互动；RPA+AI 进入财务、采购、人力和物流流程。</a:t>
            </a:r>
          </a:p>
        </p:txBody>
      </p:sp>
      <p:sp>
        <p:nvSpPr>
          <p:cNvPr id="11" name="cloud-y21">
            <a:extLst xmlns:a="http://schemas.openxmlformats.org/drawingml/2006/main">
              <a:ext uri="{FF2B5EF4-FFF2-40B4-BE49-F238E27FC236}">
                <a16:creationId xmlns:a16="http://schemas.microsoft.com/office/drawing/2014/main" id="{E14BDF86-D9C6-41D7-8BCC-06EC7948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4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2021</a:t>
            </a:r>
          </a:p>
        </p:txBody>
      </p:sp>
      <p:sp>
        <p:nvSpPr>
          <p:cNvPr id="12" name="cloud-b21">
            <a:extLst xmlns:a="http://schemas.openxmlformats.org/drawingml/2006/main">
              <a:ext uri="{FF2B5EF4-FFF2-40B4-BE49-F238E27FC236}">
                <a16:creationId xmlns:a16="http://schemas.microsoft.com/office/drawing/2014/main" id="{062D9ADE-6F83-4B8C-8A07-0B22CF01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90900"/>
            <a:ext cx="238125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适老预警、基层辅助诊断等出现具体地区和机构的运行记录。</a:t>
            </a:r>
          </a:p>
        </p:txBody>
      </p:sp>
      <p:sp>
        <p:nvSpPr>
          <p:cNvPr id="13" name="cloud-y22">
            <a:extLst xmlns:a="http://schemas.openxmlformats.org/drawingml/2006/main">
              <a:ext uri="{FF2B5EF4-FFF2-40B4-BE49-F238E27FC236}">
                <a16:creationId xmlns:a16="http://schemas.microsoft.com/office/drawing/2014/main" id="{675DBC9B-8906-4AFB-91DE-F83D2E72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2022</a:t>
            </a:r>
          </a:p>
        </p:txBody>
      </p:sp>
      <p:sp>
        <p:nvSpPr>
          <p:cNvPr id="14" name="cloud-b22">
            <a:extLst xmlns:a="http://schemas.openxmlformats.org/drawingml/2006/main">
              <a:ext uri="{FF2B5EF4-FFF2-40B4-BE49-F238E27FC236}">
                <a16:creationId xmlns:a16="http://schemas.microsoft.com/office/drawing/2014/main" id="{181D57EF-B9B3-409E-A78B-5C049FA1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24765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元宇宙与云端逛展升温；法规将产业发展、风险分级、伦理与包容并置。</a:t>
            </a:r>
          </a:p>
        </p:txBody>
      </p:sp>
      <p:sp>
        <p:nvSpPr>
          <p:cNvPr id="15" name="cloud-bottom">
            <a:extLst xmlns:a="http://schemas.openxmlformats.org/drawingml/2006/main">
              <a:ext uri="{FF2B5EF4-FFF2-40B4-BE49-F238E27FC236}">
                <a16:creationId xmlns:a16="http://schemas.microsoft.com/office/drawing/2014/main" id="{4490CF7F-604B-4BA5-A87C-F0B62715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67325"/>
            <a:ext cx="110966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ud-bottom-text">
            <a:extLst xmlns:a="http://schemas.openxmlformats.org/drawingml/2006/main">
              <a:ext uri="{FF2B5EF4-FFF2-40B4-BE49-F238E27FC236}">
                <a16:creationId xmlns:a16="http://schemas.microsoft.com/office/drawing/2014/main" id="{873B1779-D7B7-4242-B5AB-4B70ADA3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1057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要区分：有运行记录的组织流程和城市服务，不等于普通人每天直接使用的通用助手。</a:t>
            </a:r>
          </a:p>
        </p:txBody>
      </p:sp>
      <p:sp>
        <p:nvSpPr>
          <p:cNvPr id="17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E215A20A-084D-48DC-81F5-F6D82AED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2386CD21-88E3-4155-B6B3-BB6F4EB8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42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来源：S04、S05、S06；运行案例不可外推为全国普遍服务</a:t>
            </a:r>
          </a:p>
        </p:txBody>
      </p:sp>
      <p:sp>
        <p:nvSpPr>
          <p:cNvPr id="19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0E6CE7FB-4668-454A-B89A-B8119E9E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32690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2023–2024：大模型把入口改成自然语言">
            <a:extLst xmlns:a="http://schemas.openxmlformats.org/drawingml/2006/main">
              <a:ext uri="{FF2B5EF4-FFF2-40B4-BE49-F238E27FC236}">
                <a16:creationId xmlns:a16="http://schemas.microsoft.com/office/drawing/2014/main" id="{CD7B3CBC-6942-4338-B073-E5B7D342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第三阶段</a:t>
            </a:r>
          </a:p>
        </p:txBody>
      </p:sp>
      <p:sp>
        <p:nvSpPr>
          <p:cNvPr id="2" name="title-2023–2024：大模型把入口改成自然语言">
            <a:extLst xmlns:a="http://schemas.openxmlformats.org/drawingml/2006/main">
              <a:ext uri="{FF2B5EF4-FFF2-40B4-BE49-F238E27FC236}">
                <a16:creationId xmlns:a16="http://schemas.microsoft.com/office/drawing/2014/main" id="{C108234B-DC74-4348-86AD-925C190F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2023–2024：大模型把入口改成自然语言</a:t>
            </a:r>
          </a:p>
        </p:txBody>
      </p:sp>
      <p:sp>
        <p:nvSpPr>
          <p:cNvPr id="3" name="title-rule-2023–2024：大模型把入口改成自然语言">
            <a:extLst xmlns:a="http://schemas.openxmlformats.org/drawingml/2006/main">
              <a:ext uri="{FF2B5EF4-FFF2-40B4-BE49-F238E27FC236}">
                <a16:creationId xmlns:a16="http://schemas.microsoft.com/office/drawing/2014/main" id="{D0EE5316-8207-4271-9131-1EB2A8B8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en-lead">
            <a:extLst xmlns:a="http://schemas.openxmlformats.org/drawingml/2006/main">
              <a:ext uri="{FF2B5EF4-FFF2-40B4-BE49-F238E27FC236}">
                <a16:creationId xmlns:a16="http://schemas.microsoft.com/office/drawing/2014/main" id="{75089D52-0BE2-42C9-8D47-DC301801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38325"/>
            <a:ext cx="990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用户开始可以“直接说需求”；生成、检索、行程、内容整理和部分业务动作被串成一条链。</a:t>
            </a:r>
          </a:p>
        </p:txBody>
      </p:sp>
      <p:sp>
        <p:nvSpPr>
          <p:cNvPr id="5" name="gen-left">
            <a:extLst xmlns:a="http://schemas.openxmlformats.org/drawingml/2006/main">
              <a:ext uri="{FF2B5EF4-FFF2-40B4-BE49-F238E27FC236}">
                <a16:creationId xmlns:a16="http://schemas.microsoft.com/office/drawing/2014/main" id="{0C42C8C0-70DE-494B-9048-4D30C420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52863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en-right">
            <a:extLst xmlns:a="http://schemas.openxmlformats.org/drawingml/2006/main">
              <a:ext uri="{FF2B5EF4-FFF2-40B4-BE49-F238E27FC236}">
                <a16:creationId xmlns:a16="http://schemas.microsoft.com/office/drawing/2014/main" id="{D929F2B7-07EF-4507-B505-A01AEBDC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67000"/>
            <a:ext cx="52863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en-23">
            <a:extLst xmlns:a="http://schemas.openxmlformats.org/drawingml/2006/main">
              <a:ext uri="{FF2B5EF4-FFF2-40B4-BE49-F238E27FC236}">
                <a16:creationId xmlns:a16="http://schemas.microsoft.com/office/drawing/2014/main" id="{414B7C2B-531D-41CC-9A46-B7B19758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52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2023</a:t>
            </a:r>
          </a:p>
        </p:txBody>
      </p:sp>
      <p:sp>
        <p:nvSpPr>
          <p:cNvPr id="8" name="gen-23-t">
            <a:extLst xmlns:a="http://schemas.openxmlformats.org/drawingml/2006/main">
              <a:ext uri="{FF2B5EF4-FFF2-40B4-BE49-F238E27FC236}">
                <a16:creationId xmlns:a16="http://schemas.microsoft.com/office/drawing/2014/main" id="{698A7291-BA72-4536-A01E-02AA0B24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大模型、AIGC、多模态、行业模型成为独立议程。</a:t>
            </a:r>
          </a:p>
        </p:txBody>
      </p:sp>
      <p:sp>
        <p:nvSpPr>
          <p:cNvPr id="9" name="gen-23-b">
            <a:extLst xmlns:a="http://schemas.openxmlformats.org/drawingml/2006/main">
              <a:ext uri="{FF2B5EF4-FFF2-40B4-BE49-F238E27FC236}">
                <a16:creationId xmlns:a16="http://schemas.microsoft.com/office/drawing/2014/main" id="{D7C6F520-F238-4CD8-ABA7-02DCE025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46101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深圳商圈无人机配送的航线、订单和时长材料，属于限定区域持续运行的少数案例。</a:t>
            </a:r>
          </a:p>
        </p:txBody>
      </p:sp>
      <p:sp>
        <p:nvSpPr>
          <p:cNvPr id="10" name="gen-24">
            <a:extLst xmlns:a="http://schemas.openxmlformats.org/drawingml/2006/main">
              <a:ext uri="{FF2B5EF4-FFF2-40B4-BE49-F238E27FC236}">
                <a16:creationId xmlns:a16="http://schemas.microsoft.com/office/drawing/2014/main" id="{EC7C5DF8-EA2E-4536-8A79-D812BCE5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52750"/>
            <a:ext cx="152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2024</a:t>
            </a:r>
          </a:p>
        </p:txBody>
      </p:sp>
      <p:sp>
        <p:nvSpPr>
          <p:cNvPr id="11" name="gen-24-t">
            <a:extLst xmlns:a="http://schemas.openxmlformats.org/drawingml/2006/main">
              <a:ext uri="{FF2B5EF4-FFF2-40B4-BE49-F238E27FC236}">
                <a16:creationId xmlns:a16="http://schemas.microsoft.com/office/drawing/2014/main" id="{54AFB040-8603-4156-A1C2-277ED20D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46196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会展 Agent 将展位与议程查询放进自然语言入口</a:t>
            </a:r>
          </a:p>
        </p:txBody>
      </p:sp>
      <p:sp>
        <p:nvSpPr>
          <p:cNvPr id="12" name="gen-24-b">
            <a:extLst xmlns:a="http://schemas.openxmlformats.org/drawingml/2006/main">
              <a:ext uri="{FF2B5EF4-FFF2-40B4-BE49-F238E27FC236}">
                <a16:creationId xmlns:a16="http://schemas.microsoft.com/office/drawing/2014/main" id="{2C1FF19F-D4AA-469B-A8DD-E2C3A7DA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48150"/>
            <a:ext cx="4619625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Robotaxi 有开城运营与公众试乘；仍受道路、天气和责任边界约束。</a:t>
            </a:r>
          </a:p>
        </p:txBody>
      </p:sp>
      <p:sp>
        <p:nvSpPr>
          <p:cNvPr id="13" name="gen-arrow">
            <a:extLst xmlns:a="http://schemas.openxmlformats.org/drawingml/2006/main">
              <a:ext uri="{FF2B5EF4-FFF2-40B4-BE49-F238E27FC236}">
                <a16:creationId xmlns:a16="http://schemas.microsoft.com/office/drawing/2014/main" id="{63DD6D23-6D6A-4B3D-B1EC-7712E150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81425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en-arrow-dot">
            <a:extLst xmlns:a="http://schemas.openxmlformats.org/drawingml/2006/main">
              <a:ext uri="{FF2B5EF4-FFF2-40B4-BE49-F238E27FC236}">
                <a16:creationId xmlns:a16="http://schemas.microsoft.com/office/drawing/2014/main" id="{33886280-2215-4692-8EEB-E2774CA2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705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en-bottom">
            <a:extLst xmlns:a="http://schemas.openxmlformats.org/drawingml/2006/main">
              <a:ext uri="{FF2B5EF4-FFF2-40B4-BE49-F238E27FC236}">
                <a16:creationId xmlns:a16="http://schemas.microsoft.com/office/drawing/2014/main" id="{6D73774F-1142-4BBD-9CE4-08743718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72100"/>
            <a:ext cx="106203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关键变化：能力边界从“给一个答案”，延长到“协助完成一段任务”。</a:t>
            </a:r>
          </a:p>
        </p:txBody>
      </p:sp>
      <p:sp>
        <p:nvSpPr>
          <p:cNvPr id="16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FDD6FAB6-837C-4D39-91A1-1033B202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0E27257A-ACF1-473D-B505-55324722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42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来源：S07、S08、S09；按运行区域与服务边界理解材料</a:t>
            </a:r>
          </a:p>
        </p:txBody>
      </p:sp>
      <p:sp>
        <p:nvSpPr>
          <p:cNvPr id="18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514EC4F4-998B-4964-88B1-C7106544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3003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2025–2026：智能体、具身智能与终端同时争夺入口">
            <a:extLst xmlns:a="http://schemas.openxmlformats.org/drawingml/2006/main">
              <a:ext uri="{FF2B5EF4-FFF2-40B4-BE49-F238E27FC236}">
                <a16:creationId xmlns:a16="http://schemas.microsoft.com/office/drawing/2014/main" id="{23834089-9068-49B4-A182-0BA00412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第四阶段</a:t>
            </a:r>
          </a:p>
        </p:txBody>
      </p:sp>
      <p:sp>
        <p:nvSpPr>
          <p:cNvPr id="2" name="title-2025–2026：智能体、具身智能与终端同时争夺入口">
            <a:extLst xmlns:a="http://schemas.openxmlformats.org/drawingml/2006/main">
              <a:ext uri="{FF2B5EF4-FFF2-40B4-BE49-F238E27FC236}">
                <a16:creationId xmlns:a16="http://schemas.microsoft.com/office/drawing/2014/main" id="{1E5873D8-AAE2-470C-B298-0A813574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2025–2026：智能体、具身智能与终端同时争夺入口</a:t>
            </a:r>
          </a:p>
        </p:txBody>
      </p:sp>
      <p:sp>
        <p:nvSpPr>
          <p:cNvPr id="3" name="title-rule-2025–2026：智能体、具身智能与终端同时争夺入口">
            <a:extLst xmlns:a="http://schemas.openxmlformats.org/drawingml/2006/main">
              <a:ext uri="{FF2B5EF4-FFF2-40B4-BE49-F238E27FC236}">
                <a16:creationId xmlns:a16="http://schemas.microsoft.com/office/drawing/2014/main" id="{240568F8-33FE-4327-A7E6-5E9020B0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test-lead">
            <a:extLst xmlns:a="http://schemas.openxmlformats.org/drawingml/2006/main">
              <a:ext uri="{FF2B5EF4-FFF2-40B4-BE49-F238E27FC236}">
                <a16:creationId xmlns:a16="http://schemas.microsoft.com/office/drawing/2014/main" id="{0F2F8328-E959-40E6-A16C-74F4979D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1019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AI 不再只存在于网页和 App 内，而在尝试占据个人工作的入口、物理任务的执行端和随身终端。</a:t>
            </a:r>
          </a:p>
        </p:txBody>
      </p:sp>
      <p:sp>
        <p:nvSpPr>
          <p:cNvPr id="5" name="band-智能体">
            <a:extLst xmlns:a="http://schemas.openxmlformats.org/drawingml/2006/main">
              <a:ext uri="{FF2B5EF4-FFF2-40B4-BE49-F238E27FC236}">
                <a16:creationId xmlns:a16="http://schemas.microsoft.com/office/drawing/2014/main" id="{1AF0C014-5032-4F43-97AE-F84F05E2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and-label-智能体">
            <a:extLst xmlns:a="http://schemas.openxmlformats.org/drawingml/2006/main">
              <a:ext uri="{FF2B5EF4-FFF2-40B4-BE49-F238E27FC236}">
                <a16:creationId xmlns:a16="http://schemas.microsoft.com/office/drawing/2014/main" id="{D715817E-5B6A-46F1-8946-AB74BACA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智能体</a:t>
            </a:r>
          </a:p>
        </p:txBody>
      </p:sp>
      <p:sp>
        <p:nvSpPr>
          <p:cNvPr id="7" name="band-body-智能体">
            <a:extLst xmlns:a="http://schemas.openxmlformats.org/drawingml/2006/main">
              <a:ext uri="{FF2B5EF4-FFF2-40B4-BE49-F238E27FC236}">
                <a16:creationId xmlns:a16="http://schemas.microsoft.com/office/drawing/2014/main" id="{4804CA7F-4856-4A06-9E1F-1AF86B92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3009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长程任务、工具调用、协作和记忆，开始成为产品竞争点。</a:t>
            </a:r>
          </a:p>
        </p:txBody>
      </p:sp>
      <p:sp>
        <p:nvSpPr>
          <p:cNvPr id="8" name="band-具身智能">
            <a:extLst xmlns:a="http://schemas.openxmlformats.org/drawingml/2006/main">
              <a:ext uri="{FF2B5EF4-FFF2-40B4-BE49-F238E27FC236}">
                <a16:creationId xmlns:a16="http://schemas.microsoft.com/office/drawing/2014/main" id="{8EFFBECE-885F-424C-839E-D549A4A9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289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nd-label-具身智能">
            <a:extLst xmlns:a="http://schemas.openxmlformats.org/drawingml/2006/main">
              <a:ext uri="{FF2B5EF4-FFF2-40B4-BE49-F238E27FC236}">
                <a16:creationId xmlns:a16="http://schemas.microsoft.com/office/drawing/2014/main" id="{31090B08-6042-4B55-974D-E40F8F5C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03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具身智能</a:t>
            </a:r>
          </a:p>
        </p:txBody>
      </p:sp>
      <p:sp>
        <p:nvSpPr>
          <p:cNvPr id="10" name="band-body-具身智能">
            <a:extLst xmlns:a="http://schemas.openxmlformats.org/drawingml/2006/main">
              <a:ext uri="{FF2B5EF4-FFF2-40B4-BE49-F238E27FC236}">
                <a16:creationId xmlns:a16="http://schemas.microsoft.com/office/drawing/2014/main" id="{9638765D-FA90-4384-8E51-224A9FB5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52775"/>
            <a:ext cx="3009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重载、巡检、物流、消防等垂直任务优先出现。</a:t>
            </a:r>
          </a:p>
        </p:txBody>
      </p:sp>
      <p:sp>
        <p:nvSpPr>
          <p:cNvPr id="11" name="band-AI 终端">
            <a:extLst xmlns:a="http://schemas.openxmlformats.org/drawingml/2006/main">
              <a:ext uri="{FF2B5EF4-FFF2-40B4-BE49-F238E27FC236}">
                <a16:creationId xmlns:a16="http://schemas.microsoft.com/office/drawing/2014/main" id="{7693D928-4272-4625-AB09-C19846C6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and-label-AI 终端">
            <a:extLst xmlns:a="http://schemas.openxmlformats.org/drawingml/2006/main">
              <a:ext uri="{FF2B5EF4-FFF2-40B4-BE49-F238E27FC236}">
                <a16:creationId xmlns:a16="http://schemas.microsoft.com/office/drawing/2014/main" id="{09612AC8-F6F7-4487-A160-830AD6DA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AI 终端</a:t>
            </a:r>
          </a:p>
        </p:txBody>
      </p:sp>
      <p:sp>
        <p:nvSpPr>
          <p:cNvPr id="13" name="band-body-AI 终端">
            <a:extLst xmlns:a="http://schemas.openxmlformats.org/drawingml/2006/main">
              <a:ext uri="{FF2B5EF4-FFF2-40B4-BE49-F238E27FC236}">
                <a16:creationId xmlns:a16="http://schemas.microsoft.com/office/drawing/2014/main" id="{27FD5933-87E6-4950-B909-72A66D59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52775"/>
            <a:ext cx="3009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眼镜、车载、手机、电脑和可穿戴设备竞争随身入口。</a:t>
            </a:r>
          </a:p>
        </p:txBody>
      </p:sp>
      <p:sp>
        <p:nvSpPr>
          <p:cNvPr id="14" name="latest-warning">
            <a:extLst xmlns:a="http://schemas.openxmlformats.org/drawingml/2006/main">
              <a:ext uri="{FF2B5EF4-FFF2-40B4-BE49-F238E27FC236}">
                <a16:creationId xmlns:a16="http://schemas.microsoft.com/office/drawing/2014/main" id="{E1E9227B-89BC-40B9-A47E-95D451DD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11096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test-warning-label">
            <a:extLst xmlns:a="http://schemas.openxmlformats.org/drawingml/2006/main">
              <a:ext uri="{FF2B5EF4-FFF2-40B4-BE49-F238E27FC236}">
                <a16:creationId xmlns:a16="http://schemas.microsoft.com/office/drawing/2014/main" id="{53460326-71F2-4167-9D10-8DBEAD96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16573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D8F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必须保留的边界</a:t>
            </a:r>
          </a:p>
        </p:txBody>
      </p:sp>
      <p:sp>
        <p:nvSpPr>
          <p:cNvPr id="16" name="latest-warning-body">
            <a:extLst xmlns:a="http://schemas.openxmlformats.org/drawingml/2006/main">
              <a:ext uri="{FF2B5EF4-FFF2-40B4-BE49-F238E27FC236}">
                <a16:creationId xmlns:a16="http://schemas.microsoft.com/office/drawing/2014/main" id="{0B429F83-09F7-45DB-B289-3D4EEDB7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514850"/>
            <a:ext cx="83343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产品能力演示、厂商“活跃用户/发货量”自报、岗位化展演，不能单独证明大众已稳定使用，或通用家务机器人已经成熟。</a:t>
            </a:r>
          </a:p>
        </p:txBody>
      </p:sp>
      <p:sp>
        <p:nvSpPr>
          <p:cNvPr id="17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1F6F20DD-39BA-4C2D-9E93-D322A9EB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BFE40501-C8B2-4856-A060-25D45EA5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42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来源：S10、S11、S12；厂商自报与现场展示均需独立证据补强</a:t>
            </a:r>
          </a:p>
        </p:txBody>
      </p:sp>
      <p:sp>
        <p:nvSpPr>
          <p:cNvPr id="19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2C1649C3-058B-452E-8392-995FD44F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92796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先判断证据类型，再谈“AI 是否进入生活”">
            <a:extLst xmlns:a="http://schemas.openxmlformats.org/drawingml/2006/main">
              <a:ext uri="{FF2B5EF4-FFF2-40B4-BE49-F238E27FC236}">
                <a16:creationId xmlns:a16="http://schemas.microsoft.com/office/drawing/2014/main" id="{A15487F4-9A05-4925-A279-25F62B0F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证据边界</a:t>
            </a:r>
          </a:p>
        </p:txBody>
      </p:sp>
      <p:sp>
        <p:nvSpPr>
          <p:cNvPr id="2" name="title-先判断证据类型，再谈“AI 是否进入生活”">
            <a:extLst xmlns:a="http://schemas.openxmlformats.org/drawingml/2006/main">
              <a:ext uri="{FF2B5EF4-FFF2-40B4-BE49-F238E27FC236}">
                <a16:creationId xmlns:a16="http://schemas.microsoft.com/office/drawing/2014/main" id="{061C11D0-D8DF-4976-A1CA-0EF2F8BC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先判断证据类型，再谈“AI 是否进入生活”</a:t>
            </a:r>
          </a:p>
        </p:txBody>
      </p:sp>
      <p:sp>
        <p:nvSpPr>
          <p:cNvPr id="3" name="title-rule-先判断证据类型，再谈“AI 是否进入生活”">
            <a:extLst xmlns:a="http://schemas.openxmlformats.org/drawingml/2006/main">
              <a:ext uri="{FF2B5EF4-FFF2-40B4-BE49-F238E27FC236}">
                <a16:creationId xmlns:a16="http://schemas.microsoft.com/office/drawing/2014/main" id="{B836128B-3680-450B-8502-2E72A519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vidence-lead">
            <a:extLst xmlns:a="http://schemas.openxmlformats.org/drawingml/2006/main">
              <a:ext uri="{FF2B5EF4-FFF2-40B4-BE49-F238E27FC236}">
                <a16:creationId xmlns:a16="http://schemas.microsoft.com/office/drawing/2014/main" id="{603C2DBA-D30A-4E6E-A554-C563A7A3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1028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同一份大会材料的价值不同：它可以证明供应侧在做什么，但不必然能证明社会采用程度。</a:t>
            </a:r>
          </a:p>
        </p:txBody>
      </p:sp>
      <p:sp>
        <p:nvSpPr>
          <p:cNvPr id="5" name="evidence-base">
            <a:extLst xmlns:a="http://schemas.openxmlformats.org/drawingml/2006/main">
              <a:ext uri="{FF2B5EF4-FFF2-40B4-BE49-F238E27FC236}">
                <a16:creationId xmlns:a16="http://schemas.microsoft.com/office/drawing/2014/main" id="{77496D5E-166B-41F4-B716-45B2D90D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591050"/>
            <a:ext cx="10039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vidence-n-0">
            <a:extLst xmlns:a="http://schemas.openxmlformats.org/drawingml/2006/main">
              <a:ext uri="{FF2B5EF4-FFF2-40B4-BE49-F238E27FC236}">
                <a16:creationId xmlns:a16="http://schemas.microsoft.com/office/drawing/2014/main" id="{726E85AE-3A75-4446-928A-787BE399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vidence-n-t-0">
            <a:extLst xmlns:a="http://schemas.openxmlformats.org/drawingml/2006/main">
              <a:ext uri="{FF2B5EF4-FFF2-40B4-BE49-F238E27FC236}">
                <a16:creationId xmlns:a16="http://schemas.microsoft.com/office/drawing/2014/main" id="{FBC9D3BF-97BD-4269-B0AB-6885F547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43175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1</a:t>
            </a:r>
          </a:p>
        </p:txBody>
      </p:sp>
      <p:sp>
        <p:nvSpPr>
          <p:cNvPr id="8" name="evidence-label-0">
            <a:extLst xmlns:a="http://schemas.openxmlformats.org/drawingml/2006/main">
              <a:ext uri="{FF2B5EF4-FFF2-40B4-BE49-F238E27FC236}">
                <a16:creationId xmlns:a16="http://schemas.microsoft.com/office/drawing/2014/main" id="{3EE16C21-9A25-43B8-A40B-0BEE68B3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76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运行 / 交付</a:t>
            </a:r>
          </a:p>
        </p:txBody>
      </p:sp>
      <p:sp>
        <p:nvSpPr>
          <p:cNvPr id="9" name="evidence-card-0">
            <a:extLst xmlns:a="http://schemas.openxmlformats.org/drawingml/2006/main">
              <a:ext uri="{FF2B5EF4-FFF2-40B4-BE49-F238E27FC236}">
                <a16:creationId xmlns:a16="http://schemas.microsoft.com/office/drawing/2014/main" id="{D6B57A3C-8401-4B7C-A2C1-18490C29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14675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vidence-body-0">
            <a:extLst xmlns:a="http://schemas.openxmlformats.org/drawingml/2006/main">
              <a:ext uri="{FF2B5EF4-FFF2-40B4-BE49-F238E27FC236}">
                <a16:creationId xmlns:a16="http://schemas.microsoft.com/office/drawing/2014/main" id="{EDBC2D4D-7FFA-40CE-BEFD-EEEAE959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25717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持续运营、已交付、订单、覆盖范围或上线服务。也要追问是否来自运营方或厂商自报。</a:t>
            </a:r>
          </a:p>
        </p:txBody>
      </p:sp>
      <p:sp>
        <p:nvSpPr>
          <p:cNvPr id="11" name="evidence-n-1">
            <a:extLst xmlns:a="http://schemas.openxmlformats.org/drawingml/2006/main">
              <a:ext uri="{FF2B5EF4-FFF2-40B4-BE49-F238E27FC236}">
                <a16:creationId xmlns:a16="http://schemas.microsoft.com/office/drawing/2014/main" id="{A19C7EB8-97AB-49DC-A4C9-622643E4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idence-n-t-1">
            <a:extLst xmlns:a="http://schemas.openxmlformats.org/drawingml/2006/main">
              <a:ext uri="{FF2B5EF4-FFF2-40B4-BE49-F238E27FC236}">
                <a16:creationId xmlns:a16="http://schemas.microsoft.com/office/drawing/2014/main" id="{4CF8389B-E0B9-4B11-A4A6-22A1E044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</a:t>
            </a:r>
          </a:p>
        </p:txBody>
      </p:sp>
      <p:sp>
        <p:nvSpPr>
          <p:cNvPr id="13" name="evidence-label-1">
            <a:extLst xmlns:a="http://schemas.openxmlformats.org/drawingml/2006/main">
              <a:ext uri="{FF2B5EF4-FFF2-40B4-BE49-F238E27FC236}">
                <a16:creationId xmlns:a16="http://schemas.microsoft.com/office/drawing/2014/main" id="{8D5FB713-BCE9-4D51-8EB5-80185E7A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展示 / 试用</a:t>
            </a:r>
          </a:p>
        </p:txBody>
      </p:sp>
      <p:sp>
        <p:nvSpPr>
          <p:cNvPr id="14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CCADDA2E-82DF-4EB4-85F9-0ACB66E1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14675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AEE9EB56-EDB4-4A2A-BB73-1A9871C5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25717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现场可见、可体验、可预约。能说明技术被展示，不能推出日常广泛使用。</a:t>
            </a:r>
          </a:p>
        </p:txBody>
      </p:sp>
      <p:sp>
        <p:nvSpPr>
          <p:cNvPr id="16" name="evidence-n-2">
            <a:extLst xmlns:a="http://schemas.openxmlformats.org/drawingml/2006/main">
              <a:ext uri="{FF2B5EF4-FFF2-40B4-BE49-F238E27FC236}">
                <a16:creationId xmlns:a16="http://schemas.microsoft.com/office/drawing/2014/main" id="{2CA2413A-548A-47B5-86EE-6575DC35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idence-n-t-2">
            <a:extLst xmlns:a="http://schemas.openxmlformats.org/drawingml/2006/main">
              <a:ext uri="{FF2B5EF4-FFF2-40B4-BE49-F238E27FC236}">
                <a16:creationId xmlns:a16="http://schemas.microsoft.com/office/drawing/2014/main" id="{FFB2D4BE-F074-4B80-BD3D-596E8F12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43175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3</a:t>
            </a:r>
          </a:p>
        </p:txBody>
      </p:sp>
      <p:sp>
        <p:nvSpPr>
          <p:cNvPr id="18" name="evidence-label-2">
            <a:extLst xmlns:a="http://schemas.openxmlformats.org/drawingml/2006/main">
              <a:ext uri="{FF2B5EF4-FFF2-40B4-BE49-F238E27FC236}">
                <a16:creationId xmlns:a16="http://schemas.microsoft.com/office/drawing/2014/main" id="{62F97AC8-4CDB-484D-94DD-544C60E4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发布 / 目标</a:t>
            </a:r>
          </a:p>
        </p:txBody>
      </p:sp>
      <p:sp>
        <p:nvSpPr>
          <p:cNvPr id="19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5D147C1B-4221-4757-9AA2-D4DFDD3B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14675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88B9BAAF-65FA-4C73-8F1C-5E0F52BB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257175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产品发布、能力宣称、签约、规划与预测。能说明供给方动作，不能替代运行证据。</a:t>
            </a:r>
          </a:p>
        </p:txBody>
      </p:sp>
      <p:sp>
        <p:nvSpPr>
          <p:cNvPr id="21" name="evidence-bottom">
            <a:extLst xmlns:a="http://schemas.openxmlformats.org/drawingml/2006/main">
              <a:ext uri="{FF2B5EF4-FFF2-40B4-BE49-F238E27FC236}">
                <a16:creationId xmlns:a16="http://schemas.microsoft.com/office/drawing/2014/main" id="{298F08A6-177A-4A69-A80B-5F60BFF0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052512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报告的工作原则：不把展位、签约额、观众量或产品参数写成社会普及证据。</a:t>
            </a:r>
          </a:p>
        </p:txBody>
      </p:sp>
      <p:sp>
        <p:nvSpPr>
          <p:cNvPr id="22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F2E6E608-00EC-4B41-9B2C-B3A521A4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source-7">
            <a:extLst xmlns:a="http://schemas.openxmlformats.org/drawingml/2006/main">
              <a:ext uri="{FF2B5EF4-FFF2-40B4-BE49-F238E27FC236}">
                <a16:creationId xmlns:a16="http://schemas.microsoft.com/office/drawing/2014/main" id="{512810BD-1724-4909-88BC-BB6C2359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42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资料性质：官方信息、论坛整理、现场逐字稿、企业发布与展会预热并存</a:t>
            </a:r>
          </a:p>
        </p:txBody>
      </p:sp>
      <p:sp>
        <p:nvSpPr>
          <p:cNvPr id="2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A8E276F6-4203-44AA-ADF4-AA0290B8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725682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普通人真正该关注的，是五类具体变化">
            <a:extLst xmlns:a="http://schemas.openxmlformats.org/drawingml/2006/main">
              <a:ext uri="{FF2B5EF4-FFF2-40B4-BE49-F238E27FC236}">
                <a16:creationId xmlns:a16="http://schemas.microsoft.com/office/drawing/2014/main" id="{9C341E19-5882-46A9-ACDC-A217F486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普通人视角</a:t>
            </a:r>
          </a:p>
        </p:txBody>
      </p:sp>
      <p:sp>
        <p:nvSpPr>
          <p:cNvPr id="2" name="title-普通人真正该关注的，是五类具体变化">
            <a:extLst xmlns:a="http://schemas.openxmlformats.org/drawingml/2006/main">
              <a:ext uri="{FF2B5EF4-FFF2-40B4-BE49-F238E27FC236}">
                <a16:creationId xmlns:a16="http://schemas.microsoft.com/office/drawing/2014/main" id="{0D8897BA-4C15-4D0C-BA66-F830BAB8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普通人真正该关注的，是五类具体变化</a:t>
            </a:r>
          </a:p>
        </p:txBody>
      </p:sp>
      <p:sp>
        <p:nvSpPr>
          <p:cNvPr id="3" name="title-rule-普通人真正该关注的，是五类具体变化">
            <a:extLst xmlns:a="http://schemas.openxmlformats.org/drawingml/2006/main">
              <a:ext uri="{FF2B5EF4-FFF2-40B4-BE49-F238E27FC236}">
                <a16:creationId xmlns:a16="http://schemas.microsoft.com/office/drawing/2014/main" id="{DA5991A3-4BF2-46C8-93E4-00F83352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eople-lead">
            <a:extLst xmlns:a="http://schemas.openxmlformats.org/drawingml/2006/main">
              <a:ext uri="{FF2B5EF4-FFF2-40B4-BE49-F238E27FC236}">
                <a16:creationId xmlns:a16="http://schemas.microsoft.com/office/drawing/2014/main" id="{E96A806E-BFEB-4D40-9870-65F535D4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1057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85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判断一个 AI 产品是否有价值，不能只看“它会不会聊天”，还要看它如何进入任务、设备、工作和公共服务。</a:t>
            </a:r>
          </a:p>
        </p:txBody>
      </p:sp>
      <p:sp>
        <p:nvSpPr>
          <p:cNvPr id="5" name="people-rule-0">
            <a:extLst xmlns:a="http://schemas.openxmlformats.org/drawingml/2006/main">
              <a:ext uri="{FF2B5EF4-FFF2-40B4-BE49-F238E27FC236}">
                <a16:creationId xmlns:a16="http://schemas.microsoft.com/office/drawing/2014/main" id="{8E8B0979-44E9-4C5B-BB41-2330DE83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eople-num-0">
            <a:extLst xmlns:a="http://schemas.openxmlformats.org/drawingml/2006/main">
              <a:ext uri="{FF2B5EF4-FFF2-40B4-BE49-F238E27FC236}">
                <a16:creationId xmlns:a16="http://schemas.microsoft.com/office/drawing/2014/main" id="{AF4EC9AD-9A89-4E7C-87D5-C434ED32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01</a:t>
            </a:r>
          </a:p>
        </p:txBody>
      </p:sp>
      <p:sp>
        <p:nvSpPr>
          <p:cNvPr id="7" name="people-title-0">
            <a:extLst xmlns:a="http://schemas.openxmlformats.org/drawingml/2006/main">
              <a:ext uri="{FF2B5EF4-FFF2-40B4-BE49-F238E27FC236}">
                <a16:creationId xmlns:a16="http://schemas.microsoft.com/office/drawing/2014/main" id="{D7261668-2AF5-47CE-A948-2F0AE91F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90825"/>
            <a:ext cx="2609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入口变成“说意图”</a:t>
            </a:r>
          </a:p>
        </p:txBody>
      </p:sp>
      <p:sp>
        <p:nvSpPr>
          <p:cNvPr id="8" name="people-body-0">
            <a:extLst xmlns:a="http://schemas.openxmlformats.org/drawingml/2006/main">
              <a:ext uri="{FF2B5EF4-FFF2-40B4-BE49-F238E27FC236}">
                <a16:creationId xmlns:a16="http://schemas.microsoft.com/office/drawing/2014/main" id="{05D7BFD5-F3FF-4210-B987-802B10DC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9925"/>
            <a:ext cx="26098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自然语言降低门槛，但不等于可以不经核验直接交付。</a:t>
            </a:r>
          </a:p>
        </p:txBody>
      </p:sp>
      <p:sp>
        <p:nvSpPr>
          <p:cNvPr id="9" name="people-rule-1">
            <a:extLst xmlns:a="http://schemas.openxmlformats.org/drawingml/2006/main">
              <a:ext uri="{FF2B5EF4-FFF2-40B4-BE49-F238E27FC236}">
                <a16:creationId xmlns:a16="http://schemas.microsoft.com/office/drawing/2014/main" id="{CD27BACD-4A7D-4BED-9149-37E31214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19375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eople-num-1">
            <a:extLst xmlns:a="http://schemas.openxmlformats.org/drawingml/2006/main">
              <a:ext uri="{FF2B5EF4-FFF2-40B4-BE49-F238E27FC236}">
                <a16:creationId xmlns:a16="http://schemas.microsoft.com/office/drawing/2014/main" id="{1F3D9928-EFED-4C7A-AAB3-B219393D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2892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02</a:t>
            </a:r>
          </a:p>
        </p:txBody>
      </p:sp>
      <p:sp>
        <p:nvSpPr>
          <p:cNvPr id="11" name="people-title-1">
            <a:extLst xmlns:a="http://schemas.openxmlformats.org/drawingml/2006/main">
              <a:ext uri="{FF2B5EF4-FFF2-40B4-BE49-F238E27FC236}">
                <a16:creationId xmlns:a16="http://schemas.microsoft.com/office/drawing/2014/main" id="{977ACA7A-E9FC-4A87-B7DF-50BB81F6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90825"/>
            <a:ext cx="2609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任务会变长</a:t>
            </a:r>
          </a:p>
        </p:txBody>
      </p:sp>
      <p:sp>
        <p:nvSpPr>
          <p:cNvPr id="12" name="people-body-1">
            <a:extLst xmlns:a="http://schemas.openxmlformats.org/drawingml/2006/main">
              <a:ext uri="{FF2B5EF4-FFF2-40B4-BE49-F238E27FC236}">
                <a16:creationId xmlns:a16="http://schemas.microsoft.com/office/drawing/2014/main" id="{36B94E57-EB8F-4133-B047-2729296E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9925"/>
            <a:ext cx="26098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生成、调用工具、执行、反馈连成链，错误也会从答案扩展到行动。</a:t>
            </a:r>
          </a:p>
        </p:txBody>
      </p:sp>
      <p:sp>
        <p:nvSpPr>
          <p:cNvPr id="13" name="people-rule-2">
            <a:extLst xmlns:a="http://schemas.openxmlformats.org/drawingml/2006/main">
              <a:ext uri="{FF2B5EF4-FFF2-40B4-BE49-F238E27FC236}">
                <a16:creationId xmlns:a16="http://schemas.microsoft.com/office/drawing/2014/main" id="{A48C4E2F-19EC-46A3-804D-0276059C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eople-num-2">
            <a:extLst xmlns:a="http://schemas.openxmlformats.org/drawingml/2006/main">
              <a:ext uri="{FF2B5EF4-FFF2-40B4-BE49-F238E27FC236}">
                <a16:creationId xmlns:a16="http://schemas.microsoft.com/office/drawing/2014/main" id="{F1E5BE4F-51F6-4BB7-8DD1-C975F36D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2892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03</a:t>
            </a:r>
          </a:p>
        </p:txBody>
      </p:sp>
      <p:sp>
        <p:nvSpPr>
          <p:cNvPr id="15" name="people-title-2">
            <a:extLst xmlns:a="http://schemas.openxmlformats.org/drawingml/2006/main">
              <a:ext uri="{FF2B5EF4-FFF2-40B4-BE49-F238E27FC236}">
                <a16:creationId xmlns:a16="http://schemas.microsoft.com/office/drawing/2014/main" id="{288BDD3C-4D83-4809-9E54-2D98CF27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90825"/>
            <a:ext cx="2609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AI 离开屏幕</a:t>
            </a:r>
          </a:p>
        </p:txBody>
      </p:sp>
      <p:sp>
        <p:nvSpPr>
          <p:cNvPr id="16" name="people-body-2">
            <a:extLst xmlns:a="http://schemas.openxmlformats.org/drawingml/2006/main">
              <a:ext uri="{FF2B5EF4-FFF2-40B4-BE49-F238E27FC236}">
                <a16:creationId xmlns:a16="http://schemas.microsoft.com/office/drawing/2014/main" id="{673AB42B-13E1-4544-8F40-8084DEB2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09925"/>
            <a:ext cx="26098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眼镜、汽车、机器人和公共空间带来持续感知与更强的数据采集。</a:t>
            </a:r>
          </a:p>
        </p:txBody>
      </p:sp>
      <p:sp>
        <p:nvSpPr>
          <p:cNvPr id="17" name="people-rule-3">
            <a:extLst xmlns:a="http://schemas.openxmlformats.org/drawingml/2006/main">
              <a:ext uri="{FF2B5EF4-FFF2-40B4-BE49-F238E27FC236}">
                <a16:creationId xmlns:a16="http://schemas.microsoft.com/office/drawing/2014/main" id="{66E0D595-CD3D-4B84-BE43-F9138ADC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B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eople-num-3">
            <a:extLst xmlns:a="http://schemas.openxmlformats.org/drawingml/2006/main">
              <a:ext uri="{FF2B5EF4-FFF2-40B4-BE49-F238E27FC236}">
                <a16:creationId xmlns:a16="http://schemas.microsoft.com/office/drawing/2014/main" id="{65B36D76-2493-4008-94B1-8529AA01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04</a:t>
            </a:r>
          </a:p>
        </p:txBody>
      </p:sp>
      <p:sp>
        <p:nvSpPr>
          <p:cNvPr id="19" name="people-title-3">
            <a:extLst xmlns:a="http://schemas.openxmlformats.org/drawingml/2006/main">
              <a:ext uri="{FF2B5EF4-FFF2-40B4-BE49-F238E27FC236}">
                <a16:creationId xmlns:a16="http://schemas.microsoft.com/office/drawing/2014/main" id="{BD3C2732-B689-46E3-8B5B-BA343B93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2609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先改变流程，再重组岗位</a:t>
            </a:r>
          </a:p>
        </p:txBody>
      </p:sp>
      <p:sp>
        <p:nvSpPr>
          <p:cNvPr id="20" name="people-body-3">
            <a:extLst xmlns:a="http://schemas.openxmlformats.org/drawingml/2006/main">
              <a:ext uri="{FF2B5EF4-FFF2-40B4-BE49-F238E27FC236}">
                <a16:creationId xmlns:a16="http://schemas.microsoft.com/office/drawing/2014/main" id="{891A6510-F755-432B-ACE9-81E71371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26098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规则清晰、重复、数字化的环节通常先被改变，而非某个职业突然消失。</a:t>
            </a:r>
          </a:p>
        </p:txBody>
      </p:sp>
      <p:sp>
        <p:nvSpPr>
          <p:cNvPr id="21" name="people-rule-4">
            <a:extLst xmlns:a="http://schemas.openxmlformats.org/drawingml/2006/main">
              <a:ext uri="{FF2B5EF4-FFF2-40B4-BE49-F238E27FC236}">
                <a16:creationId xmlns:a16="http://schemas.microsoft.com/office/drawing/2014/main" id="{F9562DE4-551C-423F-A062-C3A57B25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62450"/>
            <a:ext cx="7543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eople-num-4">
            <a:extLst xmlns:a="http://schemas.openxmlformats.org/drawingml/2006/main">
              <a:ext uri="{FF2B5EF4-FFF2-40B4-BE49-F238E27FC236}">
                <a16:creationId xmlns:a16="http://schemas.microsoft.com/office/drawing/2014/main" id="{26DBC1BC-7322-4553-91B5-EF8F1240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05</a:t>
            </a:r>
          </a:p>
        </p:txBody>
      </p:sp>
      <p:sp>
        <p:nvSpPr>
          <p:cNvPr id="23" name="people-title-4">
            <a:extLst xmlns:a="http://schemas.openxmlformats.org/drawingml/2006/main">
              <a:ext uri="{FF2B5EF4-FFF2-40B4-BE49-F238E27FC236}">
                <a16:creationId xmlns:a16="http://schemas.microsoft.com/office/drawing/2014/main" id="{7F581A14-7B3D-4A6A-BF46-07FFAD60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33900"/>
            <a:ext cx="691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便利必须与包容并存</a:t>
            </a:r>
          </a:p>
        </p:txBody>
      </p:sp>
      <p:sp>
        <p:nvSpPr>
          <p:cNvPr id="24" name="people-body-4">
            <a:extLst xmlns:a="http://schemas.openxmlformats.org/drawingml/2006/main">
              <a:ext uri="{FF2B5EF4-FFF2-40B4-BE49-F238E27FC236}">
                <a16:creationId xmlns:a16="http://schemas.microsoft.com/office/drawing/2014/main" id="{7AACC651-C712-4E12-9573-18D01DB7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69151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公共 AI 服务要保留替代路径，不能默认人人有设备、网络和数字技能。</a:t>
            </a:r>
          </a:p>
        </p:txBody>
      </p:sp>
      <p:sp>
        <p:nvSpPr>
          <p:cNvPr id="25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95C321BD-B439-4207-998B-B98FA050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source-8">
            <a:extLst xmlns:a="http://schemas.openxmlformats.org/drawingml/2006/main">
              <a:ext uri="{FF2B5EF4-FFF2-40B4-BE49-F238E27FC236}">
                <a16:creationId xmlns:a16="http://schemas.microsoft.com/office/drawing/2014/main" id="{E5098431-7A5C-44F4-9854-FE502CAF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42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关联来源：S04–S12；公共服务数字包容参见 S06</a:t>
            </a:r>
          </a:p>
        </p:txBody>
      </p:sp>
      <p:sp>
        <p:nvSpPr>
          <p:cNvPr id="27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733CF4A7-CE28-44A6-9375-E20B5663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5509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应用层已有运行记录，但边界不能被抹平">
            <a:extLst xmlns:a="http://schemas.openxmlformats.org/drawingml/2006/main">
              <a:ext uri="{FF2B5EF4-FFF2-40B4-BE49-F238E27FC236}">
                <a16:creationId xmlns:a16="http://schemas.microsoft.com/office/drawing/2014/main" id="{7B9F9C50-A6E0-42C0-98F8-2F13C70A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应用层</a:t>
            </a:r>
          </a:p>
        </p:txBody>
      </p:sp>
      <p:sp>
        <p:nvSpPr>
          <p:cNvPr id="2" name="title-应用层已有运行记录，但边界不能被抹平">
            <a:extLst xmlns:a="http://schemas.openxmlformats.org/drawingml/2006/main">
              <a:ext uri="{FF2B5EF4-FFF2-40B4-BE49-F238E27FC236}">
                <a16:creationId xmlns:a16="http://schemas.microsoft.com/office/drawing/2014/main" id="{67F4B9A9-2279-4225-9739-678E7478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应用层已有运行记录，但边界不能被抹平</a:t>
            </a:r>
          </a:p>
        </p:txBody>
      </p:sp>
      <p:sp>
        <p:nvSpPr>
          <p:cNvPr id="3" name="title-rule-应用层已有运行记录，但边界不能被抹平">
            <a:extLst xmlns:a="http://schemas.openxmlformats.org/drawingml/2006/main">
              <a:ext uri="{FF2B5EF4-FFF2-40B4-BE49-F238E27FC236}">
                <a16:creationId xmlns:a16="http://schemas.microsoft.com/office/drawing/2014/main" id="{F5738F55-0DD8-4B40-95B7-38BF5100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pp-lead">
            <a:extLst xmlns:a="http://schemas.openxmlformats.org/drawingml/2006/main">
              <a:ext uri="{FF2B5EF4-FFF2-40B4-BE49-F238E27FC236}">
                <a16:creationId xmlns:a16="http://schemas.microsoft.com/office/drawing/2014/main" id="{0C16E534-AB36-490E-B5AF-FC78EA68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47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下列左侧是材料中可定位的运行或交付案例；右侧说明为什么仍不能把它们写成“已经普及”。</a:t>
            </a:r>
          </a:p>
        </p:txBody>
      </p:sp>
      <p:sp>
        <p:nvSpPr>
          <p:cNvPr id="5" name="app-left-bg">
            <a:extLst xmlns:a="http://schemas.openxmlformats.org/drawingml/2006/main">
              <a:ext uri="{FF2B5EF4-FFF2-40B4-BE49-F238E27FC236}">
                <a16:creationId xmlns:a16="http://schemas.microsoft.com/office/drawing/2014/main" id="{1BCD0170-24F4-4D92-A9E9-0E2BE102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5238750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pp-right-bg">
            <a:extLst xmlns:a="http://schemas.openxmlformats.org/drawingml/2006/main">
              <a:ext uri="{FF2B5EF4-FFF2-40B4-BE49-F238E27FC236}">
                <a16:creationId xmlns:a16="http://schemas.microsoft.com/office/drawing/2014/main" id="{E737E99E-C9C5-459D-94A7-4491EF2C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5238750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pp-left-title">
            <a:extLst xmlns:a="http://schemas.openxmlformats.org/drawingml/2006/main">
              <a:ext uri="{FF2B5EF4-FFF2-40B4-BE49-F238E27FC236}">
                <a16:creationId xmlns:a16="http://schemas.microsoft.com/office/drawing/2014/main" id="{BE3518C1-391D-4204-B04F-FD22EC3B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已有具体运行记录</a:t>
            </a:r>
          </a:p>
        </p:txBody>
      </p:sp>
      <p:sp>
        <p:nvSpPr>
          <p:cNvPr id="8" name="app-right-title">
            <a:extLst xmlns:a="http://schemas.openxmlformats.org/drawingml/2006/main">
              <a:ext uri="{FF2B5EF4-FFF2-40B4-BE49-F238E27FC236}">
                <a16:creationId xmlns:a16="http://schemas.microsoft.com/office/drawing/2014/main" id="{CF7230B4-8C05-4C82-A883-1AF35438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仍需谨慎外推</a:t>
            </a:r>
          </a:p>
        </p:txBody>
      </p:sp>
      <p:sp>
        <p:nvSpPr>
          <p:cNvPr id="9" name="app-left-dot-0">
            <a:extLst xmlns:a="http://schemas.openxmlformats.org/drawingml/2006/main">
              <a:ext uri="{FF2B5EF4-FFF2-40B4-BE49-F238E27FC236}">
                <a16:creationId xmlns:a16="http://schemas.microsoft.com/office/drawing/2014/main" id="{F3C71135-EF3C-4DDA-B126-BCFA2B65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pp-left-0">
            <a:extLst xmlns:a="http://schemas.openxmlformats.org/drawingml/2006/main">
              <a:ext uri="{FF2B5EF4-FFF2-40B4-BE49-F238E27FC236}">
                <a16:creationId xmlns:a16="http://schemas.microsoft.com/office/drawing/2014/main" id="{3683E4B2-5243-4583-8596-34BAA299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8975"/>
            <a:ext cx="4362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RPA+AI：企业流程自动化，个案记录 30 余场景、数十万次/月。</a:t>
            </a:r>
          </a:p>
        </p:txBody>
      </p:sp>
      <p:sp>
        <p:nvSpPr>
          <p:cNvPr id="11" name="app-left-dot-1">
            <a:extLst xmlns:a="http://schemas.openxmlformats.org/drawingml/2006/main">
              <a:ext uri="{FF2B5EF4-FFF2-40B4-BE49-F238E27FC236}">
                <a16:creationId xmlns:a16="http://schemas.microsoft.com/office/drawing/2014/main" id="{C23D3954-8424-4E06-A2CD-94325FC6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p-left-1">
            <a:extLst xmlns:a="http://schemas.openxmlformats.org/drawingml/2006/main">
              <a:ext uri="{FF2B5EF4-FFF2-40B4-BE49-F238E27FC236}">
                <a16:creationId xmlns:a16="http://schemas.microsoft.com/office/drawing/2014/main" id="{1B9F1E15-0890-4F3F-A686-74244ED4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4362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城市与民生：适老预警、基层辅助诊断等有地区/机构运行记录</a:t>
            </a:r>
          </a:p>
        </p:txBody>
      </p:sp>
      <p:sp>
        <p:nvSpPr>
          <p:cNvPr id="13" name="app-left-dot-2">
            <a:extLst xmlns:a="http://schemas.openxmlformats.org/drawingml/2006/main">
              <a:ext uri="{FF2B5EF4-FFF2-40B4-BE49-F238E27FC236}">
                <a16:creationId xmlns:a16="http://schemas.microsoft.com/office/drawing/2014/main" id="{4845DA5C-CFF3-4A6C-A845-91D18323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pp-left-2">
            <a:extLst xmlns:a="http://schemas.openxmlformats.org/drawingml/2006/main">
              <a:ext uri="{FF2B5EF4-FFF2-40B4-BE49-F238E27FC236}">
                <a16:creationId xmlns:a16="http://schemas.microsoft.com/office/drawing/2014/main" id="{15269EFF-8F54-4664-BAE1-63F9B94A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4362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低空配送：深圳商圈 5 条航线、近 4 万单、约 15 分钟。</a:t>
            </a:r>
          </a:p>
        </p:txBody>
      </p:sp>
      <p:sp>
        <p:nvSpPr>
          <p:cNvPr id="15" name="app-left-dot-3">
            <a:extLst xmlns:a="http://schemas.openxmlformats.org/drawingml/2006/main">
              <a:ext uri="{FF2B5EF4-FFF2-40B4-BE49-F238E27FC236}">
                <a16:creationId xmlns:a16="http://schemas.microsoft.com/office/drawing/2014/main" id="{D46B5EBB-9A3B-49B3-A99B-1AB6298C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pp-left-3">
            <a:extLst xmlns:a="http://schemas.openxmlformats.org/drawingml/2006/main">
              <a:ext uri="{FF2B5EF4-FFF2-40B4-BE49-F238E27FC236}">
                <a16:creationId xmlns:a16="http://schemas.microsoft.com/office/drawing/2014/main" id="{9FA0BD38-7A69-47DA-B8D5-E8ECE2FE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86325"/>
            <a:ext cx="4362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Robotaxi：开城运营与公众试乘，但运营区域和道路边界仍在。</a:t>
            </a:r>
          </a:p>
        </p:txBody>
      </p:sp>
      <p:sp>
        <p:nvSpPr>
          <p:cNvPr id="17" name="app-right-dot-0">
            <a:extLst xmlns:a="http://schemas.openxmlformats.org/drawingml/2006/main">
              <a:ext uri="{FF2B5EF4-FFF2-40B4-BE49-F238E27FC236}">
                <a16:creationId xmlns:a16="http://schemas.microsoft.com/office/drawing/2014/main" id="{3947BA13-3025-48AF-A456-C7767DF8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57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pp-right-0">
            <a:extLst xmlns:a="http://schemas.openxmlformats.org/drawingml/2006/main">
              <a:ext uri="{FF2B5EF4-FFF2-40B4-BE49-F238E27FC236}">
                <a16:creationId xmlns:a16="http://schemas.microsoft.com/office/drawing/2014/main" id="{C1D447D9-E7C3-498B-968D-8DD93D3F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28975"/>
            <a:ext cx="434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生成内容可用，不等于事实正确、版权清晰或可直接发布。</a:t>
            </a:r>
          </a:p>
        </p:txBody>
      </p:sp>
      <p:sp>
        <p:nvSpPr>
          <p:cNvPr id="19" name="app-right-dot-1">
            <a:extLst xmlns:a="http://schemas.openxmlformats.org/drawingml/2006/main">
              <a:ext uri="{FF2B5EF4-FFF2-40B4-BE49-F238E27FC236}">
                <a16:creationId xmlns:a16="http://schemas.microsoft.com/office/drawing/2014/main" id="{9CC0AC9E-9686-4D51-9501-C2349433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10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pp-right-1">
            <a:extLst xmlns:a="http://schemas.openxmlformats.org/drawingml/2006/main">
              <a:ext uri="{FF2B5EF4-FFF2-40B4-BE49-F238E27FC236}">
                <a16:creationId xmlns:a16="http://schemas.microsoft.com/office/drawing/2014/main" id="{0EFBEC82-5371-4B5C-8F20-96F7D2AB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81425"/>
            <a:ext cx="434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智能体的复杂协作、成本和失败率，仍需独立运行证据。</a:t>
            </a:r>
          </a:p>
        </p:txBody>
      </p:sp>
      <p:sp>
        <p:nvSpPr>
          <p:cNvPr id="21" name="app-right-dot-2">
            <a:extLst xmlns:a="http://schemas.openxmlformats.org/drawingml/2006/main">
              <a:ext uri="{FF2B5EF4-FFF2-40B4-BE49-F238E27FC236}">
                <a16:creationId xmlns:a16="http://schemas.microsoft.com/office/drawing/2014/main" id="{8FC6BA74-9FC2-4443-BFAA-D5FCA515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62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pp-right-2">
            <a:extLst xmlns:a="http://schemas.openxmlformats.org/drawingml/2006/main">
              <a:ext uri="{FF2B5EF4-FFF2-40B4-BE49-F238E27FC236}">
                <a16:creationId xmlns:a16="http://schemas.microsoft.com/office/drawing/2014/main" id="{1DECB56E-1C14-4F69-9E58-E214E1EE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34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AI 终端发货不等于高频留存；隐私、续航与售后决定体验。</a:t>
            </a:r>
          </a:p>
        </p:txBody>
      </p:sp>
      <p:sp>
        <p:nvSpPr>
          <p:cNvPr id="23" name="app-right-dot-3">
            <a:extLst xmlns:a="http://schemas.openxmlformats.org/drawingml/2006/main">
              <a:ext uri="{FF2B5EF4-FFF2-40B4-BE49-F238E27FC236}">
                <a16:creationId xmlns:a16="http://schemas.microsoft.com/office/drawing/2014/main" id="{54531131-8432-40A3-89F0-17D7BA56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14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pp-right-3">
            <a:extLst xmlns:a="http://schemas.openxmlformats.org/drawingml/2006/main">
              <a:ext uri="{FF2B5EF4-FFF2-40B4-BE49-F238E27FC236}">
                <a16:creationId xmlns:a16="http://schemas.microsoft.com/office/drawing/2014/main" id="{C5814D2F-0F48-4E57-8A27-D6CA89CC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86325"/>
            <a:ext cx="434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多数人形机器人仍处展示、试点或岗位验证阶段。</a:t>
            </a:r>
          </a:p>
        </p:txBody>
      </p:sp>
      <p:sp>
        <p:nvSpPr>
          <p:cNvPr id="25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4DC47189-F4D4-4C62-B0D8-544F0C4E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source-9">
            <a:extLst xmlns:a="http://schemas.openxmlformats.org/drawingml/2006/main">
              <a:ext uri="{FF2B5EF4-FFF2-40B4-BE49-F238E27FC236}">
                <a16:creationId xmlns:a16="http://schemas.microsoft.com/office/drawing/2014/main" id="{B03BC7F7-FDC4-4C3F-8E77-07FA3960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42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来源：S04、S05、S07、S08、S09、S10、S11、S12</a:t>
            </a:r>
          </a:p>
        </p:txBody>
      </p:sp>
      <p:sp>
        <p:nvSpPr>
          <p:cNvPr id="27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06B08E4E-8207-4A9B-8A46-F76DEBE4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455768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AI 治理从原则讨论走向可执行的责任链">
            <a:extLst xmlns:a="http://schemas.openxmlformats.org/drawingml/2006/main">
              <a:ext uri="{FF2B5EF4-FFF2-40B4-BE49-F238E27FC236}">
                <a16:creationId xmlns:a16="http://schemas.microsoft.com/office/drawing/2014/main" id="{DB5EC207-AE42-466D-97FF-56F17F16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治理演进</a:t>
            </a:r>
          </a:p>
        </p:txBody>
      </p:sp>
      <p:sp>
        <p:nvSpPr>
          <p:cNvPr id="2" name="title-AI 治理从原则讨论走向可执行的责任链">
            <a:extLst xmlns:a="http://schemas.openxmlformats.org/drawingml/2006/main">
              <a:ext uri="{FF2B5EF4-FFF2-40B4-BE49-F238E27FC236}">
                <a16:creationId xmlns:a16="http://schemas.microsoft.com/office/drawing/2014/main" id="{EF90D282-F395-44F8-83D6-57FFCB71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AI 治理从原则讨论走向可执行的责任链</a:t>
            </a:r>
          </a:p>
        </p:txBody>
      </p:sp>
      <p:sp>
        <p:nvSpPr>
          <p:cNvPr id="3" name="title-rule-AI 治理从原则讨论走向可执行的责任链">
            <a:extLst xmlns:a="http://schemas.openxmlformats.org/drawingml/2006/main">
              <a:ext uri="{FF2B5EF4-FFF2-40B4-BE49-F238E27FC236}">
                <a16:creationId xmlns:a16="http://schemas.microsoft.com/office/drawing/2014/main" id="{7D8EB4B0-D2E4-4CF2-8A6C-5E9977AF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ov-line">
            <a:extLst xmlns:a="http://schemas.openxmlformats.org/drawingml/2006/main">
              <a:ext uri="{FF2B5EF4-FFF2-40B4-BE49-F238E27FC236}">
                <a16:creationId xmlns:a16="http://schemas.microsoft.com/office/drawing/2014/main" id="{69581544-E45A-4426-AB8D-F5C3A0C8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ov-dot-0">
            <a:extLst xmlns:a="http://schemas.openxmlformats.org/drawingml/2006/main">
              <a:ext uri="{FF2B5EF4-FFF2-40B4-BE49-F238E27FC236}">
                <a16:creationId xmlns:a16="http://schemas.microsoft.com/office/drawing/2014/main" id="{6ABE518E-1C09-4E96-83B7-A82F635D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ov-year-0">
            <a:extLst xmlns:a="http://schemas.openxmlformats.org/drawingml/2006/main">
              <a:ext uri="{FF2B5EF4-FFF2-40B4-BE49-F238E27FC236}">
                <a16:creationId xmlns:a16="http://schemas.microsoft.com/office/drawing/2014/main" id="{FA830A21-BA80-4796-A665-D9E11DC7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11455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2018</a:t>
            </a:r>
          </a:p>
        </p:txBody>
      </p:sp>
      <p:sp>
        <p:nvSpPr>
          <p:cNvPr id="7" name="gov-text-0">
            <a:extLst xmlns:a="http://schemas.openxmlformats.org/drawingml/2006/main">
              <a:ext uri="{FF2B5EF4-FFF2-40B4-BE49-F238E27FC236}">
                <a16:creationId xmlns:a16="http://schemas.microsoft.com/office/drawing/2014/main" id="{F495FE01-CFE7-48B4-8943-A1860E9A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514600"/>
            <a:ext cx="13525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隐私、漏洞、自动驾驶风险</a:t>
            </a:r>
          </a:p>
        </p:txBody>
      </p:sp>
      <p:sp>
        <p:nvSpPr>
          <p:cNvPr id="8" name="gov-dot-1">
            <a:extLst xmlns:a="http://schemas.openxmlformats.org/drawingml/2006/main">
              <a:ext uri="{FF2B5EF4-FFF2-40B4-BE49-F238E27FC236}">
                <a16:creationId xmlns:a16="http://schemas.microsoft.com/office/drawing/2014/main" id="{3B0C59C9-F1AE-4AC2-A34C-6D3CA9E9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24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ov-year-1">
            <a:extLst xmlns:a="http://schemas.openxmlformats.org/drawingml/2006/main">
              <a:ext uri="{FF2B5EF4-FFF2-40B4-BE49-F238E27FC236}">
                <a16:creationId xmlns:a16="http://schemas.microsoft.com/office/drawing/2014/main" id="{02F3CB0F-AC2C-4E45-B5E8-0683977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705225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2019</a:t>
            </a:r>
          </a:p>
        </p:txBody>
      </p:sp>
      <p:sp>
        <p:nvSpPr>
          <p:cNvPr id="10" name="gov-text-1">
            <a:extLst xmlns:a="http://schemas.openxmlformats.org/drawingml/2006/main">
              <a:ext uri="{FF2B5EF4-FFF2-40B4-BE49-F238E27FC236}">
                <a16:creationId xmlns:a16="http://schemas.microsoft.com/office/drawing/2014/main" id="{59C99785-28E9-4FBC-BCF3-64F2C115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105275"/>
            <a:ext cx="13525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伦理、安全、法律、责任</a:t>
            </a:r>
          </a:p>
        </p:txBody>
      </p:sp>
      <p:sp>
        <p:nvSpPr>
          <p:cNvPr id="11" name="gov-dot-2">
            <a:extLst xmlns:a="http://schemas.openxmlformats.org/drawingml/2006/main">
              <a:ext uri="{FF2B5EF4-FFF2-40B4-BE49-F238E27FC236}">
                <a16:creationId xmlns:a16="http://schemas.microsoft.com/office/drawing/2014/main" id="{572A8549-9EB4-4122-A157-247656F3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24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ov-year-2">
            <a:extLst xmlns:a="http://schemas.openxmlformats.org/drawingml/2006/main">
              <a:ext uri="{FF2B5EF4-FFF2-40B4-BE49-F238E27FC236}">
                <a16:creationId xmlns:a16="http://schemas.microsoft.com/office/drawing/2014/main" id="{BF5B75AD-0C04-4054-8137-DDBC7F99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1455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2020–21</a:t>
            </a:r>
          </a:p>
        </p:txBody>
      </p:sp>
      <p:sp>
        <p:nvSpPr>
          <p:cNvPr id="13" name="gov-text-2">
            <a:extLst xmlns:a="http://schemas.openxmlformats.org/drawingml/2006/main">
              <a:ext uri="{FF2B5EF4-FFF2-40B4-BE49-F238E27FC236}">
                <a16:creationId xmlns:a16="http://schemas.microsoft.com/office/drawing/2014/main" id="{93B6F57B-CCFF-4C32-9314-C9E75686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514600"/>
            <a:ext cx="13525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可信 AI：可靠、公平、可解释</a:t>
            </a:r>
          </a:p>
        </p:txBody>
      </p:sp>
      <p:sp>
        <p:nvSpPr>
          <p:cNvPr id="14" name="gov-dot-3">
            <a:extLst xmlns:a="http://schemas.openxmlformats.org/drawingml/2006/main">
              <a:ext uri="{FF2B5EF4-FFF2-40B4-BE49-F238E27FC236}">
                <a16:creationId xmlns:a16="http://schemas.microsoft.com/office/drawing/2014/main" id="{5CEB5F47-E022-409A-8E0A-9474497F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24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ov-year-3">
            <a:extLst xmlns:a="http://schemas.openxmlformats.org/drawingml/2006/main">
              <a:ext uri="{FF2B5EF4-FFF2-40B4-BE49-F238E27FC236}">
                <a16:creationId xmlns:a16="http://schemas.microsoft.com/office/drawing/2014/main" id="{4DEA93A8-AA46-43F1-AABD-B5139AD8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05225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2022</a:t>
            </a:r>
          </a:p>
        </p:txBody>
      </p:sp>
      <p:sp>
        <p:nvSpPr>
          <p:cNvPr id="16" name="gov-text-3">
            <a:extLst xmlns:a="http://schemas.openxmlformats.org/drawingml/2006/main">
              <a:ext uri="{FF2B5EF4-FFF2-40B4-BE49-F238E27FC236}">
                <a16:creationId xmlns:a16="http://schemas.microsoft.com/office/drawing/2014/main" id="{1F0E0CAF-CF50-4465-A663-F4FE95D5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105275"/>
            <a:ext cx="13525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风险分级、备案、沙盒、包容</a:t>
            </a:r>
          </a:p>
        </p:txBody>
      </p:sp>
      <p:sp>
        <p:nvSpPr>
          <p:cNvPr id="17" name="gov-dot-4">
            <a:extLst xmlns:a="http://schemas.openxmlformats.org/drawingml/2006/main">
              <a:ext uri="{FF2B5EF4-FFF2-40B4-BE49-F238E27FC236}">
                <a16:creationId xmlns:a16="http://schemas.microsoft.com/office/drawing/2014/main" id="{03138036-683E-4A7E-9842-16D0E5A4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4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ov-year-4">
            <a:extLst xmlns:a="http://schemas.openxmlformats.org/drawingml/2006/main">
              <a:ext uri="{FF2B5EF4-FFF2-40B4-BE49-F238E27FC236}">
                <a16:creationId xmlns:a16="http://schemas.microsoft.com/office/drawing/2014/main" id="{02396BEB-71C2-4440-A858-317CACE2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1455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2023</a:t>
            </a:r>
          </a:p>
        </p:txBody>
      </p:sp>
      <p:sp>
        <p:nvSpPr>
          <p:cNvPr id="19" name="gov-text-4">
            <a:extLst xmlns:a="http://schemas.openxmlformats.org/drawingml/2006/main">
              <a:ext uri="{FF2B5EF4-FFF2-40B4-BE49-F238E27FC236}">
                <a16:creationId xmlns:a16="http://schemas.microsoft.com/office/drawing/2014/main" id="{328CE505-DA1B-4B6F-9785-88C78168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14600"/>
            <a:ext cx="13525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内容标识、数据合法性、救济</a:t>
            </a:r>
          </a:p>
        </p:txBody>
      </p:sp>
      <p:sp>
        <p:nvSpPr>
          <p:cNvPr id="20" name="gov-dot-5">
            <a:extLst xmlns:a="http://schemas.openxmlformats.org/drawingml/2006/main">
              <a:ext uri="{FF2B5EF4-FFF2-40B4-BE49-F238E27FC236}">
                <a16:creationId xmlns:a16="http://schemas.microsoft.com/office/drawing/2014/main" id="{EF649C83-CD71-417E-8B82-AB4424D5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24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ov-year-5">
            <a:extLst xmlns:a="http://schemas.openxmlformats.org/drawingml/2006/main">
              <a:ext uri="{FF2B5EF4-FFF2-40B4-BE49-F238E27FC236}">
                <a16:creationId xmlns:a16="http://schemas.microsoft.com/office/drawing/2014/main" id="{3B8467EC-73B7-4DE1-907D-3B180CCF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05225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2024</a:t>
            </a:r>
          </a:p>
        </p:txBody>
      </p:sp>
      <p:sp>
        <p:nvSpPr>
          <p:cNvPr id="22" name="gov-text-5">
            <a:extLst xmlns:a="http://schemas.openxmlformats.org/drawingml/2006/main">
              <a:ext uri="{FF2B5EF4-FFF2-40B4-BE49-F238E27FC236}">
                <a16:creationId xmlns:a16="http://schemas.microsoft.com/office/drawing/2014/main" id="{F626863D-7BB6-4A8D-BDD5-8BB93894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105275"/>
            <a:ext cx="13525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评测、监督、追溯、问责</a:t>
            </a:r>
          </a:p>
        </p:txBody>
      </p:sp>
      <p:sp>
        <p:nvSpPr>
          <p:cNvPr id="23" name="gov-dot-6">
            <a:extLst xmlns:a="http://schemas.openxmlformats.org/drawingml/2006/main">
              <a:ext uri="{FF2B5EF4-FFF2-40B4-BE49-F238E27FC236}">
                <a16:creationId xmlns:a16="http://schemas.microsoft.com/office/drawing/2014/main" id="{74F46B85-CCEB-4723-9FD8-5194BBCA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24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ov-year-6">
            <a:extLst xmlns:a="http://schemas.openxmlformats.org/drawingml/2006/main">
              <a:ext uri="{FF2B5EF4-FFF2-40B4-BE49-F238E27FC236}">
                <a16:creationId xmlns:a16="http://schemas.microsoft.com/office/drawing/2014/main" id="{F353E23D-C033-4B11-A54E-C9B58894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2025–26</a:t>
            </a:r>
          </a:p>
        </p:txBody>
      </p:sp>
      <p:sp>
        <p:nvSpPr>
          <p:cNvPr id="25" name="gov-text-6">
            <a:extLst xmlns:a="http://schemas.openxmlformats.org/drawingml/2006/main">
              <a:ext uri="{FF2B5EF4-FFF2-40B4-BE49-F238E27FC236}">
                <a16:creationId xmlns:a16="http://schemas.microsoft.com/office/drawing/2014/main" id="{AE578970-DD47-41C4-99C6-D71E5F60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14600"/>
            <a:ext cx="16192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A43"/>
                </a:solidFill>
                <a:latin typeface="PingFang SC"/>
                <a:ea typeface="PingFang SC"/>
                <a:cs typeface="PingFang SC"/>
              </a:defRPr>
            </a:pPr>
            <a:r>
              <a:t>智能体安全、应急、互操作</a:t>
            </a:r>
          </a:p>
        </p:txBody>
      </p:sp>
      <p:sp>
        <p:nvSpPr>
          <p:cNvPr id="26" name="gov-bottom">
            <a:extLst xmlns:a="http://schemas.openxmlformats.org/drawingml/2006/main">
              <a:ext uri="{FF2B5EF4-FFF2-40B4-BE49-F238E27FC236}">
                <a16:creationId xmlns:a16="http://schemas.microsoft.com/office/drawing/2014/main" id="{71FB0C43-7CE1-4888-858F-9C9C4386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96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ov-bottom-text">
            <a:extLst xmlns:a="http://schemas.openxmlformats.org/drawingml/2006/main">
              <a:ext uri="{FF2B5EF4-FFF2-40B4-BE49-F238E27FC236}">
                <a16:creationId xmlns:a16="http://schemas.microsoft.com/office/drawing/2014/main" id="{1BD37025-9535-4848-A6F3-F23C1F36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48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风险对象已由“模型输出”扩展为会行动、会调用工具、会与其他系统交互的智能体。</a:t>
            </a:r>
          </a:p>
        </p:txBody>
      </p:sp>
      <p:sp>
        <p:nvSpPr>
          <p:cNvPr id="28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FCF1E960-E089-41A8-8396-86A02B9B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-source-10">
            <a:extLst xmlns:a="http://schemas.openxmlformats.org/drawingml/2006/main">
              <a:ext uri="{FF2B5EF4-FFF2-40B4-BE49-F238E27FC236}">
                <a16:creationId xmlns:a16="http://schemas.microsoft.com/office/drawing/2014/main" id="{B97B2418-29F8-4D1C-81C3-D26BEB3D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42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来源：S02、S03、S06、S13、S14、S15、S16、S17</a:t>
            </a:r>
          </a:p>
        </p:txBody>
      </p:sp>
      <p:sp>
        <p:nvSpPr>
          <p:cNvPr id="3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3A02B696-8A80-4302-AEAE-C0BB6236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99265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-把治理问题展开为九个可执行方向">
            <a:extLst xmlns:a="http://schemas.openxmlformats.org/drawingml/2006/main">
              <a:ext uri="{FF2B5EF4-FFF2-40B4-BE49-F238E27FC236}">
                <a16:creationId xmlns:a16="http://schemas.microsoft.com/office/drawing/2014/main" id="{BDF6856F-FF7F-4F17-9E56-278BE1D5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治理扩展</a:t>
            </a:r>
          </a:p>
        </p:txBody>
      </p:sp>
      <p:sp>
        <p:nvSpPr>
          <p:cNvPr id="2" name="title-把治理问题展开为九个可执行方向">
            <a:extLst xmlns:a="http://schemas.openxmlformats.org/drawingml/2006/main">
              <a:ext uri="{FF2B5EF4-FFF2-40B4-BE49-F238E27FC236}">
                <a16:creationId xmlns:a16="http://schemas.microsoft.com/office/drawing/2014/main" id="{E5C24014-974D-4766-9D4F-B0509BCF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把治理问题展开为九个可执行方向</a:t>
            </a:r>
          </a:p>
        </p:txBody>
      </p:sp>
      <p:sp>
        <p:nvSpPr>
          <p:cNvPr id="3" name="title-rule-把治理问题展开为九个可执行方向">
            <a:extLst xmlns:a="http://schemas.openxmlformats.org/drawingml/2006/main">
              <a:ext uri="{FF2B5EF4-FFF2-40B4-BE49-F238E27FC236}">
                <a16:creationId xmlns:a16="http://schemas.microsoft.com/office/drawing/2014/main" id="{228198FC-9EB3-4128-A44C-1CA78610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rections-lead">
            <a:extLst xmlns:a="http://schemas.openxmlformats.org/drawingml/2006/main">
              <a:ext uri="{FF2B5EF4-FFF2-40B4-BE49-F238E27FC236}">
                <a16:creationId xmlns:a16="http://schemas.microsoft.com/office/drawing/2014/main" id="{5851BD9B-C83D-4B75-A0DE-B80C9532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57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这九项不是对未来的事实断言，而是将现有材料提出的问题转译为可设计、评测和追责的议题。</a:t>
            </a:r>
          </a:p>
        </p:txBody>
      </p:sp>
      <p:sp>
        <p:nvSpPr>
          <p:cNvPr id="5" name="direction-bg-0">
            <a:extLst xmlns:a="http://schemas.openxmlformats.org/drawingml/2006/main">
              <a:ext uri="{FF2B5EF4-FFF2-40B4-BE49-F238E27FC236}">
                <a16:creationId xmlns:a16="http://schemas.microsoft.com/office/drawing/2014/main" id="{9973C9CC-3A45-4FF9-BC98-D324D7F0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3381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irection-num-0">
            <a:extLst xmlns:a="http://schemas.openxmlformats.org/drawingml/2006/main">
              <a:ext uri="{FF2B5EF4-FFF2-40B4-BE49-F238E27FC236}">
                <a16:creationId xmlns:a16="http://schemas.microsoft.com/office/drawing/2014/main" id="{70C8E2F7-C531-4E55-A70A-12AA21E3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01</a:t>
            </a:r>
          </a:p>
        </p:txBody>
      </p:sp>
      <p:sp>
        <p:nvSpPr>
          <p:cNvPr id="7" name="direction-0">
            <a:extLst xmlns:a="http://schemas.openxmlformats.org/drawingml/2006/main">
              <a:ext uri="{FF2B5EF4-FFF2-40B4-BE49-F238E27FC236}">
                <a16:creationId xmlns:a16="http://schemas.microsoft.com/office/drawing/2014/main" id="{99C000D7-92EB-4F4B-BD4D-119DBD9D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8450"/>
            <a:ext cx="25241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智能体权限与身份</a:t>
            </a:r>
          </a:p>
        </p:txBody>
      </p:sp>
      <p:sp>
        <p:nvSpPr>
          <p:cNvPr id="8" name="direction-bg-1">
            <a:extLst xmlns:a="http://schemas.openxmlformats.org/drawingml/2006/main">
              <a:ext uri="{FF2B5EF4-FFF2-40B4-BE49-F238E27FC236}">
                <a16:creationId xmlns:a16="http://schemas.microsoft.com/office/drawing/2014/main" id="{0CA9BF23-596C-48CB-A15F-97EF8A61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3381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rection-num-1">
            <a:extLst xmlns:a="http://schemas.openxmlformats.org/drawingml/2006/main">
              <a:ext uri="{FF2B5EF4-FFF2-40B4-BE49-F238E27FC236}">
                <a16:creationId xmlns:a16="http://schemas.microsoft.com/office/drawing/2014/main" id="{A4242E82-C6EC-4EB1-B823-2EBDCA96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02</a:t>
            </a:r>
          </a:p>
        </p:txBody>
      </p:sp>
      <p:sp>
        <p:nvSpPr>
          <p:cNvPr id="10" name="direction-1">
            <a:extLst xmlns:a="http://schemas.openxmlformats.org/drawingml/2006/main">
              <a:ext uri="{FF2B5EF4-FFF2-40B4-BE49-F238E27FC236}">
                <a16:creationId xmlns:a16="http://schemas.microsoft.com/office/drawing/2014/main" id="{2E675751-265A-4978-8402-C7A33259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38450"/>
            <a:ext cx="25241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部署前评测与独立保障</a:t>
            </a:r>
          </a:p>
        </p:txBody>
      </p:sp>
      <p:sp>
        <p:nvSpPr>
          <p:cNvPr id="11" name="direction-bg-2">
            <a:extLst xmlns:a="http://schemas.openxmlformats.org/drawingml/2006/main">
              <a:ext uri="{FF2B5EF4-FFF2-40B4-BE49-F238E27FC236}">
                <a16:creationId xmlns:a16="http://schemas.microsoft.com/office/drawing/2014/main" id="{96B52CF5-EFD0-49AE-96B9-B0ABD88A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3381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rection-num-2">
            <a:extLst xmlns:a="http://schemas.openxmlformats.org/drawingml/2006/main">
              <a:ext uri="{FF2B5EF4-FFF2-40B4-BE49-F238E27FC236}">
                <a16:creationId xmlns:a16="http://schemas.microsoft.com/office/drawing/2014/main" id="{5E167448-F93E-48E6-A37F-F91637EF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765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03</a:t>
            </a:r>
          </a:p>
        </p:txBody>
      </p:sp>
      <p:sp>
        <p:nvSpPr>
          <p:cNvPr id="13" name="direction-2">
            <a:extLst xmlns:a="http://schemas.openxmlformats.org/drawingml/2006/main">
              <a:ext uri="{FF2B5EF4-FFF2-40B4-BE49-F238E27FC236}">
                <a16:creationId xmlns:a16="http://schemas.microsoft.com/office/drawing/2014/main" id="{BF41CDFC-9E28-461B-B8B0-23430580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38450"/>
            <a:ext cx="25241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全生命周期风险管理</a:t>
            </a:r>
          </a:p>
        </p:txBody>
      </p:sp>
      <p:sp>
        <p:nvSpPr>
          <p:cNvPr id="14" name="direction-bg-3">
            <a:extLst xmlns:a="http://schemas.openxmlformats.org/drawingml/2006/main">
              <a:ext uri="{FF2B5EF4-FFF2-40B4-BE49-F238E27FC236}">
                <a16:creationId xmlns:a16="http://schemas.microsoft.com/office/drawing/2014/main" id="{92F6D1EA-7210-416A-896E-C2F533B8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381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rection-num-3">
            <a:extLst xmlns:a="http://schemas.openxmlformats.org/drawingml/2006/main">
              <a:ext uri="{FF2B5EF4-FFF2-40B4-BE49-F238E27FC236}">
                <a16:creationId xmlns:a16="http://schemas.microsoft.com/office/drawing/2014/main" id="{8F15E439-6A37-4BF8-ADDE-704CDE8F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04</a:t>
            </a:r>
          </a:p>
        </p:txBody>
      </p:sp>
      <p:sp>
        <p:nvSpPr>
          <p:cNvPr id="16" name="direction-3">
            <a:extLst xmlns:a="http://schemas.openxmlformats.org/drawingml/2006/main">
              <a:ext uri="{FF2B5EF4-FFF2-40B4-BE49-F238E27FC236}">
                <a16:creationId xmlns:a16="http://schemas.microsoft.com/office/drawing/2014/main" id="{B0A0C3B9-8A31-4887-81CD-F140D3D2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71900"/>
            <a:ext cx="25241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生成内容来源与数据权益</a:t>
            </a:r>
          </a:p>
        </p:txBody>
      </p:sp>
      <p:sp>
        <p:nvSpPr>
          <p:cNvPr id="17" name="direction-bg-4">
            <a:extLst xmlns:a="http://schemas.openxmlformats.org/drawingml/2006/main">
              <a:ext uri="{FF2B5EF4-FFF2-40B4-BE49-F238E27FC236}">
                <a16:creationId xmlns:a16="http://schemas.microsoft.com/office/drawing/2014/main" id="{7A9E173F-D2EF-491C-BBB5-EE92FDBD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3381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irection-num-4">
            <a:extLst xmlns:a="http://schemas.openxmlformats.org/drawingml/2006/main">
              <a:ext uri="{FF2B5EF4-FFF2-40B4-BE49-F238E27FC236}">
                <a16:creationId xmlns:a16="http://schemas.microsoft.com/office/drawing/2014/main" id="{013828EA-853D-41BD-BE7F-C2C88D19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05</a:t>
            </a:r>
          </a:p>
        </p:txBody>
      </p:sp>
      <p:sp>
        <p:nvSpPr>
          <p:cNvPr id="19" name="direction-4">
            <a:extLst xmlns:a="http://schemas.openxmlformats.org/drawingml/2006/main">
              <a:ext uri="{FF2B5EF4-FFF2-40B4-BE49-F238E27FC236}">
                <a16:creationId xmlns:a16="http://schemas.microsoft.com/office/drawing/2014/main" id="{440DFA10-096C-4FEE-B72D-F7689FCE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71900"/>
            <a:ext cx="25241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物理 AI 安全</a:t>
            </a:r>
          </a:p>
        </p:txBody>
      </p:sp>
      <p:sp>
        <p:nvSpPr>
          <p:cNvPr id="20" name="direction-bg-5">
            <a:extLst xmlns:a="http://schemas.openxmlformats.org/drawingml/2006/main">
              <a:ext uri="{FF2B5EF4-FFF2-40B4-BE49-F238E27FC236}">
                <a16:creationId xmlns:a16="http://schemas.microsoft.com/office/drawing/2014/main" id="{ED6D81D3-BD85-43A5-8994-D863E1F2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3381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irection-num-5">
            <a:extLst xmlns:a="http://schemas.openxmlformats.org/drawingml/2006/main">
              <a:ext uri="{FF2B5EF4-FFF2-40B4-BE49-F238E27FC236}">
                <a16:creationId xmlns:a16="http://schemas.microsoft.com/office/drawing/2014/main" id="{75998636-7DD2-463B-9A43-5C8CA16E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06</a:t>
            </a:r>
          </a:p>
        </p:txBody>
      </p:sp>
      <p:sp>
        <p:nvSpPr>
          <p:cNvPr id="22" name="direction-5">
            <a:extLst xmlns:a="http://schemas.openxmlformats.org/drawingml/2006/main">
              <a:ext uri="{FF2B5EF4-FFF2-40B4-BE49-F238E27FC236}">
                <a16:creationId xmlns:a16="http://schemas.microsoft.com/office/drawing/2014/main" id="{634BEBC0-7351-403C-8DDF-D04BFED4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71900"/>
            <a:ext cx="25241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网络安全与欺诈防护</a:t>
            </a:r>
          </a:p>
        </p:txBody>
      </p:sp>
      <p:sp>
        <p:nvSpPr>
          <p:cNvPr id="23" name="direction-bg-6">
            <a:extLst xmlns:a="http://schemas.openxmlformats.org/drawingml/2006/main">
              <a:ext uri="{FF2B5EF4-FFF2-40B4-BE49-F238E27FC236}">
                <a16:creationId xmlns:a16="http://schemas.microsoft.com/office/drawing/2014/main" id="{EF705D15-78EC-406C-B372-F2C8E9E5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381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irection-num-6">
            <a:extLst xmlns:a="http://schemas.openxmlformats.org/drawingml/2006/main">
              <a:ext uri="{FF2B5EF4-FFF2-40B4-BE49-F238E27FC236}">
                <a16:creationId xmlns:a16="http://schemas.microsoft.com/office/drawing/2014/main" id="{F62BF3E7-47C3-4EB8-8C80-A49F3E85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07</a:t>
            </a:r>
          </a:p>
        </p:txBody>
      </p:sp>
      <p:sp>
        <p:nvSpPr>
          <p:cNvPr id="25" name="direction-6">
            <a:extLst xmlns:a="http://schemas.openxmlformats.org/drawingml/2006/main">
              <a:ext uri="{FF2B5EF4-FFF2-40B4-BE49-F238E27FC236}">
                <a16:creationId xmlns:a16="http://schemas.microsoft.com/office/drawing/2014/main" id="{E9073FE2-8AD1-4F97-9D58-8AD1BF53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05350"/>
            <a:ext cx="25241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行业标准与互操作</a:t>
            </a:r>
          </a:p>
        </p:txBody>
      </p:sp>
      <p:sp>
        <p:nvSpPr>
          <p:cNvPr id="26" name="direction-bg-7">
            <a:extLst xmlns:a="http://schemas.openxmlformats.org/drawingml/2006/main">
              <a:ext uri="{FF2B5EF4-FFF2-40B4-BE49-F238E27FC236}">
                <a16:creationId xmlns:a16="http://schemas.microsoft.com/office/drawing/2014/main" id="{F74755CF-5A83-49C8-B505-AA023851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3381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irection-num-7">
            <a:extLst xmlns:a="http://schemas.openxmlformats.org/drawingml/2006/main">
              <a:ext uri="{FF2B5EF4-FFF2-40B4-BE49-F238E27FC236}">
                <a16:creationId xmlns:a16="http://schemas.microsoft.com/office/drawing/2014/main" id="{60B7F453-1C89-4011-A3F3-0D8D1383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434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08</a:t>
            </a:r>
          </a:p>
        </p:txBody>
      </p:sp>
      <p:sp>
        <p:nvSpPr>
          <p:cNvPr id="28" name="direction-7">
            <a:extLst xmlns:a="http://schemas.openxmlformats.org/drawingml/2006/main">
              <a:ext uri="{FF2B5EF4-FFF2-40B4-BE49-F238E27FC236}">
                <a16:creationId xmlns:a16="http://schemas.microsoft.com/office/drawing/2014/main" id="{ADE99DD8-1D5D-4C08-B7AA-970AAB18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05350"/>
            <a:ext cx="25241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能力建设与数字包容</a:t>
            </a:r>
          </a:p>
        </p:txBody>
      </p:sp>
      <p:sp>
        <p:nvSpPr>
          <p:cNvPr id="29" name="direction-bg-8">
            <a:extLst xmlns:a="http://schemas.openxmlformats.org/drawingml/2006/main">
              <a:ext uri="{FF2B5EF4-FFF2-40B4-BE49-F238E27FC236}">
                <a16:creationId xmlns:a16="http://schemas.microsoft.com/office/drawing/2014/main" id="{5095EFA9-EAA5-4E23-ADA2-EFAD0B1D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3381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rection-num-8">
            <a:extLst xmlns:a="http://schemas.openxmlformats.org/drawingml/2006/main">
              <a:ext uri="{FF2B5EF4-FFF2-40B4-BE49-F238E27FC236}">
                <a16:creationId xmlns:a16="http://schemas.microsoft.com/office/drawing/2014/main" id="{3576AF38-8991-4185-A5CD-66142DE5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434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09</a:t>
            </a:r>
          </a:p>
        </p:txBody>
      </p:sp>
      <p:sp>
        <p:nvSpPr>
          <p:cNvPr id="31" name="direction-8">
            <a:extLst xmlns:a="http://schemas.openxmlformats.org/drawingml/2006/main">
              <a:ext uri="{FF2B5EF4-FFF2-40B4-BE49-F238E27FC236}">
                <a16:creationId xmlns:a16="http://schemas.microsoft.com/office/drawing/2014/main" id="{99205B1A-9125-4DDD-AA20-9CE3C67C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05350"/>
            <a:ext cx="25241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救济、补偿与可问责</a:t>
            </a:r>
          </a:p>
        </p:txBody>
      </p:sp>
      <p:sp>
        <p:nvSpPr>
          <p:cNvPr id="32" name="directions-bottom">
            <a:extLst xmlns:a="http://schemas.openxmlformats.org/drawingml/2006/main">
              <a:ext uri="{FF2B5EF4-FFF2-40B4-BE49-F238E27FC236}">
                <a16:creationId xmlns:a16="http://schemas.microsoft.com/office/drawing/2014/main" id="{1E88AD58-DF8C-41C4-A09B-81509B9A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05727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共同要求：高风险动作可识别、可验证、可回溯，并让受影响的人能获得实际救济。</a:t>
            </a:r>
          </a:p>
        </p:txBody>
      </p:sp>
      <p:sp>
        <p:nvSpPr>
          <p:cNvPr id="3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0F8455BB-7AEB-46B0-9975-2DDBB618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-source-11">
            <a:extLst xmlns:a="http://schemas.openxmlformats.org/drawingml/2006/main">
              <a:ext uri="{FF2B5EF4-FFF2-40B4-BE49-F238E27FC236}">
                <a16:creationId xmlns:a16="http://schemas.microsoft.com/office/drawing/2014/main" id="{88D47CB3-661A-4C32-A39C-FE4F4194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42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来源：S14、S16、S17、S18；详见配套报告“可以继续展开的九个方向”</a:t>
            </a:r>
          </a:p>
        </p:txBody>
      </p:sp>
      <p:sp>
        <p:nvSpPr>
          <p:cNvPr id="3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418E7A4F-1B14-456D-920F-839038E1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518535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lose-left-blue">
            <a:extLst xmlns:a="http://schemas.openxmlformats.org/drawingml/2006/main">
              <a:ext uri="{FF2B5EF4-FFF2-40B4-BE49-F238E27FC236}">
                <a16:creationId xmlns:a16="http://schemas.microsoft.com/office/drawing/2014/main" id="{91994847-C5E7-4D86-B4B9-1BA78C07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13842FCE-6365-41D3-A5D7-146603FC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结论 / 普通人接下来应持续追问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BDECBFC-711B-4265-AAC1-8DDE3B2B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00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不只问“它有多聪明”</a:t>
            </a:r>
          </a:p>
        </p:txBody>
      </p:sp>
      <p:sp>
        <p:nvSpPr>
          <p:cNvPr id="4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93B14441-92DD-4B3E-86AC-A61A2431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9525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更要问：它是否可持续运行、可被接管、可被追责，并让更多人真正受益。</a:t>
            </a:r>
          </a:p>
        </p:txBody>
      </p:sp>
      <p:sp>
        <p:nvSpPr>
          <p:cNvPr id="5" name="close-rule">
            <a:extLst xmlns:a="http://schemas.openxmlformats.org/drawingml/2006/main">
              <a:ext uri="{FF2B5EF4-FFF2-40B4-BE49-F238E27FC236}">
                <a16:creationId xmlns:a16="http://schemas.microsoft.com/office/drawing/2014/main" id="{5AC45DA0-F788-4CDE-9540-2B94A566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E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num-0">
            <a:extLst xmlns:a="http://schemas.openxmlformats.org/drawingml/2006/main">
              <a:ext uri="{FF2B5EF4-FFF2-40B4-BE49-F238E27FC236}">
                <a16:creationId xmlns:a16="http://schemas.microsoft.com/office/drawing/2014/main" id="{DE033E3D-6D8A-4665-A576-CCEF79A0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1</a:t>
            </a:r>
          </a:p>
        </p:txBody>
      </p:sp>
      <p:sp>
        <p:nvSpPr>
          <p:cNvPr id="7" name="close-question-0">
            <a:extLst xmlns:a="http://schemas.openxmlformats.org/drawingml/2006/main">
              <a:ext uri="{FF2B5EF4-FFF2-40B4-BE49-F238E27FC236}">
                <a16:creationId xmlns:a16="http://schemas.microsoft.com/office/drawing/2014/main" id="{870394DE-A139-49D0-BD9C-8AE5BE1E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71825"/>
            <a:ext cx="104775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是否有持续运行、真实用户和可复核的使用结果？</a:t>
            </a:r>
          </a:p>
        </p:txBody>
      </p:sp>
      <p:sp>
        <p:nvSpPr>
          <p:cNvPr id="8" name="close-item-rule-0">
            <a:extLst xmlns:a="http://schemas.openxmlformats.org/drawingml/2006/main">
              <a:ext uri="{FF2B5EF4-FFF2-40B4-BE49-F238E27FC236}">
                <a16:creationId xmlns:a16="http://schemas.microsoft.com/office/drawing/2014/main" id="{1F327630-359D-4352-B52E-6FD39EF3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90925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ose-num-1">
            <a:extLst xmlns:a="http://schemas.openxmlformats.org/drawingml/2006/main">
              <a:ext uri="{FF2B5EF4-FFF2-40B4-BE49-F238E27FC236}">
                <a16:creationId xmlns:a16="http://schemas.microsoft.com/office/drawing/2014/main" id="{D1B1552E-5738-4F11-B98D-BBA1FCCC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81425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2</a:t>
            </a:r>
          </a:p>
        </p:txBody>
      </p:sp>
      <p:sp>
        <p:nvSpPr>
          <p:cNvPr id="10" name="close-question-1">
            <a:extLst xmlns:a="http://schemas.openxmlformats.org/drawingml/2006/main">
              <a:ext uri="{FF2B5EF4-FFF2-40B4-BE49-F238E27FC236}">
                <a16:creationId xmlns:a16="http://schemas.microsoft.com/office/drawing/2014/main" id="{F54C3EF8-38B7-4CC7-A429-2149C25E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762375"/>
            <a:ext cx="104775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它替代的是哪一个步骤，错误时谁接管、谁承担损失？</a:t>
            </a:r>
          </a:p>
        </p:txBody>
      </p:sp>
      <p:sp>
        <p:nvSpPr>
          <p:cNvPr id="11" name="close-item-rule-1">
            <a:extLst xmlns:a="http://schemas.openxmlformats.org/drawingml/2006/main">
              <a:ext uri="{FF2B5EF4-FFF2-40B4-BE49-F238E27FC236}">
                <a16:creationId xmlns:a16="http://schemas.microsoft.com/office/drawing/2014/main" id="{549C5126-8BE7-4C83-8CA5-5871E955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81475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e-num-2">
            <a:extLst xmlns:a="http://schemas.openxmlformats.org/drawingml/2006/main">
              <a:ext uri="{FF2B5EF4-FFF2-40B4-BE49-F238E27FC236}">
                <a16:creationId xmlns:a16="http://schemas.microsoft.com/office/drawing/2014/main" id="{6B551675-50D2-4F74-BE7C-272DF738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3</a:t>
            </a:r>
          </a:p>
        </p:txBody>
      </p:sp>
      <p:sp>
        <p:nvSpPr>
          <p:cNvPr id="13" name="close-question-2">
            <a:extLst xmlns:a="http://schemas.openxmlformats.org/drawingml/2006/main">
              <a:ext uri="{FF2B5EF4-FFF2-40B4-BE49-F238E27FC236}">
                <a16:creationId xmlns:a16="http://schemas.microsoft.com/office/drawing/2014/main" id="{4CDBFD33-55E8-4EAB-948E-2AD66277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52925"/>
            <a:ext cx="104775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它收集和保留什么数据，用户能否拒绝、查看、删除和申诉？</a:t>
            </a:r>
          </a:p>
        </p:txBody>
      </p:sp>
      <p:sp>
        <p:nvSpPr>
          <p:cNvPr id="14" name="close-item-rule-2">
            <a:extLst xmlns:a="http://schemas.openxmlformats.org/drawingml/2006/main">
              <a:ext uri="{FF2B5EF4-FFF2-40B4-BE49-F238E27FC236}">
                <a16:creationId xmlns:a16="http://schemas.microsoft.com/office/drawing/2014/main" id="{9388B049-914E-450C-A783-048ADC3C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772025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ose-num-3">
            <a:extLst xmlns:a="http://schemas.openxmlformats.org/drawingml/2006/main">
              <a:ext uri="{FF2B5EF4-FFF2-40B4-BE49-F238E27FC236}">
                <a16:creationId xmlns:a16="http://schemas.microsoft.com/office/drawing/2014/main" id="{F83DADC5-55EC-4F1F-88F8-2CF66C29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62525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EB4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4</a:t>
            </a:r>
          </a:p>
        </p:txBody>
      </p:sp>
      <p:sp>
        <p:nvSpPr>
          <p:cNvPr id="16" name="close-question-3">
            <a:extLst xmlns:a="http://schemas.openxmlformats.org/drawingml/2006/main">
              <a:ext uri="{FF2B5EF4-FFF2-40B4-BE49-F238E27FC236}">
                <a16:creationId xmlns:a16="http://schemas.microsoft.com/office/drawing/2014/main" id="{406176B9-96DC-4A73-8B7D-E90BE8A6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943475"/>
            <a:ext cx="104775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PingFang SC Semibold"/>
                <a:ea typeface="PingFang SC Semibold"/>
                <a:cs typeface="PingFang SC Semibold"/>
              </a:defRPr>
            </a:pPr>
            <a:r>
              <a:t>它让更多人获得服务，还是排除了不会用、不能用、承担不起的人？</a:t>
            </a:r>
          </a:p>
        </p:txBody>
      </p:sp>
      <p:sp>
        <p:nvSpPr>
          <p:cNvPr id="17" name="close-item-rule-3">
            <a:extLst xmlns:a="http://schemas.openxmlformats.org/drawingml/2006/main">
              <a:ext uri="{FF2B5EF4-FFF2-40B4-BE49-F238E27FC236}">
                <a16:creationId xmlns:a16="http://schemas.microsoft.com/office/drawing/2014/main" id="{CD34DF87-62C9-4570-A92A-E68C43E9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362575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ose-source">
            <a:extLst xmlns:a="http://schemas.openxmlformats.org/drawingml/2006/main">
              <a:ext uri="{FF2B5EF4-FFF2-40B4-BE49-F238E27FC236}">
                <a16:creationId xmlns:a16="http://schemas.microsoft.com/office/drawing/2014/main" id="{FED43C78-21BC-4A83-93F4-166A9276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057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完整阅读版与来源索引：WAIC-2018-2026-演进、普通人、治理与应用报告.pdf / S01–S19</a:t>
            </a:r>
          </a:p>
        </p:txBody>
      </p:sp>
      <p:sp>
        <p:nvSpPr>
          <p:cNvPr id="19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DA988A7A-B4AF-4D54-9E28-46BA0224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4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source-12">
            <a:extLst xmlns:a="http://schemas.openxmlformats.org/drawingml/2006/main">
              <a:ext uri="{FF2B5EF4-FFF2-40B4-BE49-F238E27FC236}">
                <a16:creationId xmlns:a16="http://schemas.microsoft.com/office/drawing/2014/main" id="{8F0483C6-E2D0-4F69-8208-8AD1D0BF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942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本 PPT 依据配套文字报告制作；不含 Wiki 使用方法</a:t>
            </a:r>
          </a:p>
        </p:txBody>
      </p:sp>
      <p:sp>
        <p:nvSpPr>
          <p:cNvPr id="21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029260AD-8318-4ED7-9FF3-4BD42CCD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90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77B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3221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2026-07-21T23:37:16.8150000Z</dcterms:created>
  <dcterms:modified xsi:type="dcterms:W3CDTF">2026-07-21T23:37:16.8150000Z</dcterms:modified>
</coreProperties>
</file>