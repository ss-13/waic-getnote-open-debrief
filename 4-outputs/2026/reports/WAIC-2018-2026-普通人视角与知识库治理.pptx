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6eaa8691394a4a" /><Relationship Type="http://schemas.openxmlformats.org/officeDocument/2006/relationships/extended-properties" Target="/docProps/app.xml" Id="Rfc56d668912747b7" /><Relationship Type="http://schemas.openxmlformats.org/officeDocument/2006/relationships/officeDocument" Target="/ppt/presentation.xml" Id="Rc039206cd0ec4c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e50e88e2ed4a9a"/>
  </p:sldMasterIdLst>
  <p:notesMasterIdLst>
    <p:notesMasterId xmlns:r="http://schemas.openxmlformats.org/officeDocument/2006/relationships" r:id="R089034fa0d104b71"/>
  </p:notesMasterIdLst>
  <p:sldIdLst>
    <p:sldId xmlns:r="http://schemas.openxmlformats.org/officeDocument/2006/relationships" id="256" r:id="Rf8d3b3ba05c94a4b"/>
    <p:sldId xmlns:r="http://schemas.openxmlformats.org/officeDocument/2006/relationships" id="257" r:id="R1037f888b0b643f3"/>
    <p:sldId xmlns:r="http://schemas.openxmlformats.org/officeDocument/2006/relationships" id="258" r:id="Re450c8ff89ad4548"/>
    <p:sldId xmlns:r="http://schemas.openxmlformats.org/officeDocument/2006/relationships" id="259" r:id="R5425ef60be864d0a"/>
    <p:sldId xmlns:r="http://schemas.openxmlformats.org/officeDocument/2006/relationships" id="260" r:id="Rfd529fa32d2a4fa5"/>
    <p:sldId xmlns:r="http://schemas.openxmlformats.org/officeDocument/2006/relationships" id="261" r:id="R5315156f736f48a3"/>
    <p:sldId xmlns:r="http://schemas.openxmlformats.org/officeDocument/2006/relationships" id="262" r:id="R68c1babe7d244407"/>
    <p:sldId xmlns:r="http://schemas.openxmlformats.org/officeDocument/2006/relationships" id="263" r:id="R9ff4150b5c5643c4"/>
    <p:sldId xmlns:r="http://schemas.openxmlformats.org/officeDocument/2006/relationships" id="264" r:id="Rb36aa432306e4669"/>
    <p:sldId xmlns:r="http://schemas.openxmlformats.org/officeDocument/2006/relationships" id="265" r:id="R3548c3dc2e87458a"/>
    <p:sldId xmlns:r="http://schemas.openxmlformats.org/officeDocument/2006/relationships" id="266" r:id="R3a01eee3bd694e3e"/>
    <p:sldId xmlns:r="http://schemas.openxmlformats.org/officeDocument/2006/relationships" id="267" r:id="Rbe1be2d06368490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932cf0076543af" /><Relationship Type="http://schemas.openxmlformats.org/officeDocument/2006/relationships/slideMaster" Target="/ppt/slideMasters/slideMaster1.xml" Id="Rd6e50e88e2ed4a9a" /><Relationship Type="http://schemas.openxmlformats.org/officeDocument/2006/relationships/notesMaster" Target="/ppt/notesMasters/notesMaster1.xml" Id="R089034fa0d104b71" /><Relationship Type="http://schemas.openxmlformats.org/officeDocument/2006/relationships/presProps" Target="/ppt/presProps.xml" Id="R3dd28bc042924cd6" /><Relationship Type="http://schemas.openxmlformats.org/officeDocument/2006/relationships/tableStyles" Target="/ppt/tableStyles.xml" Id="R5c08a6ba23fb48f2" /><Relationship Type="http://schemas.openxmlformats.org/officeDocument/2006/relationships/slide" Target="/ppt/slides/slide1.xml" Id="Rf8d3b3ba05c94a4b" /><Relationship Type="http://schemas.openxmlformats.org/officeDocument/2006/relationships/slide" Target="/ppt/slides/slide2.xml" Id="R1037f888b0b643f3" /><Relationship Type="http://schemas.openxmlformats.org/officeDocument/2006/relationships/slide" Target="/ppt/slides/slide3.xml" Id="Re450c8ff89ad4548" /><Relationship Type="http://schemas.openxmlformats.org/officeDocument/2006/relationships/slide" Target="/ppt/slides/slide4.xml" Id="R5425ef60be864d0a" /><Relationship Type="http://schemas.openxmlformats.org/officeDocument/2006/relationships/slide" Target="/ppt/slides/slide5.xml" Id="Rfd529fa32d2a4fa5" /><Relationship Type="http://schemas.openxmlformats.org/officeDocument/2006/relationships/slide" Target="/ppt/slides/slide6.xml" Id="R5315156f736f48a3" /><Relationship Type="http://schemas.openxmlformats.org/officeDocument/2006/relationships/slide" Target="/ppt/slides/slide7.xml" Id="R68c1babe7d244407" /><Relationship Type="http://schemas.openxmlformats.org/officeDocument/2006/relationships/slide" Target="/ppt/slides/slide8.xml" Id="R9ff4150b5c5643c4" /><Relationship Type="http://schemas.openxmlformats.org/officeDocument/2006/relationships/slide" Target="/ppt/slides/slide9.xml" Id="Rb36aa432306e4669" /><Relationship Type="http://schemas.openxmlformats.org/officeDocument/2006/relationships/slide" Target="/ppt/slides/slide10.xml" Id="R3548c3dc2e87458a" /><Relationship Type="http://schemas.openxmlformats.org/officeDocument/2006/relationships/slide" Target="/ppt/slides/slide11.xml" Id="R3a01eee3bd694e3e" /><Relationship Type="http://schemas.openxmlformats.org/officeDocument/2006/relationships/slide" Target="/ppt/slides/slide12.xml" Id="Rbe1be2d0636849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106b4ce1ab4a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97586ddef24e04" /><Relationship Type="http://schemas.openxmlformats.org/officeDocument/2006/relationships/notesMaster" Target="/ppt/notesMasters/notesMaster1.xml" Id="Rc72f2b838b2f40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ad99ee5e954da4" /><Relationship Type="http://schemas.openxmlformats.org/officeDocument/2006/relationships/notesMaster" Target="/ppt/notesMasters/notesMaster1.xml" Id="Rcc0f0331d6b048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ea5122080e4351" /><Relationship Type="http://schemas.openxmlformats.org/officeDocument/2006/relationships/notesMaster" Target="/ppt/notesMasters/notesMaster1.xml" Id="Rbc30e2f988a642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7b070f94844dc0" /><Relationship Type="http://schemas.openxmlformats.org/officeDocument/2006/relationships/notesMaster" Target="/ppt/notesMasters/notesMaster1.xml" Id="Rd056d706c0de4f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b499ae4d5d43c3" /><Relationship Type="http://schemas.openxmlformats.org/officeDocument/2006/relationships/notesMaster" Target="/ppt/notesMasters/notesMaster1.xml" Id="Re3ebeb9fa2874e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7eff1b1ee54889" /><Relationship Type="http://schemas.openxmlformats.org/officeDocument/2006/relationships/notesMaster" Target="/ppt/notesMasters/notesMaster1.xml" Id="R112ef22142e146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4837ef92d2455d" /><Relationship Type="http://schemas.openxmlformats.org/officeDocument/2006/relationships/notesMaster" Target="/ppt/notesMasters/notesMaster1.xml" Id="Rf0d42300d1a442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19f2bc27de43fc" /><Relationship Type="http://schemas.openxmlformats.org/officeDocument/2006/relationships/notesMaster" Target="/ppt/notesMasters/notesMaster1.xml" Id="R57a4a8b371b743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6c4724112d4bb7" /><Relationship Type="http://schemas.openxmlformats.org/officeDocument/2006/relationships/notesMaster" Target="/ppt/notesMasters/notesMaster1.xml" Id="R0aca358d4d3441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104baa21304ff9" /><Relationship Type="http://schemas.openxmlformats.org/officeDocument/2006/relationships/notesMaster" Target="/ppt/notesMasters/notesMaster1.xml" Id="R689790ec5ad741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343ec93261473c" /><Relationship Type="http://schemas.openxmlformats.org/officeDocument/2006/relationships/notesMaster" Target="/ppt/notesMasters/notesMaster1.xml" Id="R070af32efd7b4f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3de1349a1214401" /><Relationship Type="http://schemas.openxmlformats.org/officeDocument/2006/relationships/notesMaster" Target="/ppt/notesMasters/notesMaster1.xml" Id="R699f8b23f07e4b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08301c433442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fe485b17e24c67" /><Relationship Type="http://schemas.openxmlformats.org/officeDocument/2006/relationships/slideLayout" Target="/ppt/slideLayouts/slideLayout1.xml" Id="Re1e445e57ecc47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e445e57ecc47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d4f3d789549d5" /><Relationship Type="http://schemas.openxmlformats.org/officeDocument/2006/relationships/notesSlide" Target="/ppt/notesSlides/notesSlide1.xml" Id="R42e2c3611cb140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2779ef6514df7" /><Relationship Type="http://schemas.openxmlformats.org/officeDocument/2006/relationships/notesSlide" Target="/ppt/notesSlides/notesSlide2.xml" Id="R1286eb288a5c4b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f82cc71e54ebc" /><Relationship Type="http://schemas.openxmlformats.org/officeDocument/2006/relationships/notesSlide" Target="/ppt/notesSlides/notesSlide3.xml" Id="R80dc1e0959f643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95ef65d0945b2" /><Relationship Type="http://schemas.openxmlformats.org/officeDocument/2006/relationships/notesSlide" Target="/ppt/notesSlides/notesSlide4.xml" Id="R90c65ad123694b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3c712b3c847bb" /><Relationship Type="http://schemas.openxmlformats.org/officeDocument/2006/relationships/notesSlide" Target="/ppt/notesSlides/notesSlide5.xml" Id="R370a3483ca504a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65f413ddd411e" /><Relationship Type="http://schemas.openxmlformats.org/officeDocument/2006/relationships/notesSlide" Target="/ppt/notesSlides/notesSlide6.xml" Id="R44dd8de838f645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efb3756614906" /><Relationship Type="http://schemas.openxmlformats.org/officeDocument/2006/relationships/image" Target="/ppt/media/image.png" Id="R834a912061de423a" /><Relationship Type="http://schemas.openxmlformats.org/officeDocument/2006/relationships/notesSlide" Target="/ppt/notesSlides/notesSlide7.xml" Id="Rb73d6da927c441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ad5c5ce0e4867" /><Relationship Type="http://schemas.openxmlformats.org/officeDocument/2006/relationships/chart" Target="/ppt/slides/charts/chart1.xml" Id="R1cdce741cbd44a04" /><Relationship Type="http://schemas.openxmlformats.org/officeDocument/2006/relationships/notesSlide" Target="/ppt/notesSlides/notesSlide8.xml" Id="R07a90c0438f946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89022ef6c42da" /><Relationship Type="http://schemas.openxmlformats.org/officeDocument/2006/relationships/notesSlide" Target="/ppt/notesSlides/notesSlide9.xml" Id="R62fcc8527aa14b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f48ce64944ffe" /><Relationship Type="http://schemas.openxmlformats.org/officeDocument/2006/relationships/notesSlide" Target="/ppt/notesSlides/notesSlide10.xml" Id="R5badbbdb516946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48adc27a24c31" /><Relationship Type="http://schemas.openxmlformats.org/officeDocument/2006/relationships/notesSlide" Target="/ppt/notesSlides/notesSlide11.xml" Id="R8cfc7e437e97424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b33598ea14ae4" /><Relationship Type="http://schemas.openxmlformats.org/officeDocument/2006/relationships/notesSlide" Target="/ppt/notesSlides/notesSlide12.xml" Id="R1bc6b19955f4413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来源记录</c:v>
          </c:tx>
          <c:spPr>
            <a:solidFill xmlns:a="http://schemas.openxmlformats.org/drawingml/2006/main">
              <a:srgbClr val="2E6BFF"/>
            </a:solidFill>
          </c:spPr>
          <c:cat>
            <c:numLit>
              <c:formatCode>General</c:formatCode>
              <c:ptCount val="9"/>
              <c:pt idx="0">
                <c:v>2018</c:v>
              </c:pt>
              <c:pt idx="1">
                <c:v>2019</c:v>
              </c:pt>
              <c:pt idx="2">
                <c:v>2020</c:v>
              </c:pt>
              <c:pt idx="3">
                <c:v>2021</c:v>
              </c:pt>
              <c:pt idx="4">
                <c:v>2022</c:v>
              </c:pt>
              <c:pt idx="5">
                <c:v>2023</c:v>
              </c:pt>
              <c:pt idx="6">
                <c:v>2024</c:v>
              </c:pt>
              <c:pt idx="7">
                <c:v>2025</c:v>
              </c:pt>
              <c:pt idx="8">
                <c:v>2026</c:v>
              </c:pt>
            </c:numLit>
          </c:cat>
          <c:val>
            <c:numLit>
              <c:formatCode>General</c:formatCode>
              <c:ptCount val="9"/>
              <c:pt idx="0">
                <c:v>31</c:v>
              </c:pt>
              <c:pt idx="1">
                <c:v>53</c:v>
              </c:pt>
              <c:pt idx="2">
                <c:v>44</c:v>
              </c:pt>
              <c:pt idx="3">
                <c:v>41</c:v>
              </c:pt>
              <c:pt idx="4">
                <c:v>38</c:v>
              </c:pt>
              <c:pt idx="5">
                <c:v>55</c:v>
              </c:pt>
              <c:pt idx="6">
                <c:v>37</c:v>
              </c:pt>
              <c:pt idx="7">
                <c:v>173</c:v>
              </c:pt>
              <c:pt idx="8">
                <c:v>377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A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DF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9BE47D-7AAF-4732-A641-815FA105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FF"/>
          </a:solidFill>
          <a:ln xmlns:a="http://schemas.openxmlformats.org/drawingml/2006/main" w="0">
            <a:solidFill>
              <a:srgbClr val="2E6B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230B7-D21D-4488-A2CE-EEFAE18C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633984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A0"/>
          </a:solidFill>
          <a:ln xmlns:a="http://schemas.openxmlformats.org/drawingml/2006/main" w="0">
            <a:solidFill>
              <a:srgbClr val="12A7A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586DD-B77D-45C7-AD78-780BEAAA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840" y="133350"/>
            <a:ext cx="341376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E92"/>
          </a:solidFill>
          <a:ln xmlns:a="http://schemas.openxmlformats.org/drawingml/2006/main" w="0">
            <a:solidFill>
              <a:srgbClr val="D64E9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BE2A0F-B222-4786-A4B9-B7A12154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33350"/>
            <a:ext cx="2438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32B"/>
          </a:solidFill>
          <a:ln xmlns:a="http://schemas.openxmlformats.org/drawingml/2006/main" w="0">
            <a:solidFill>
              <a:srgbClr val="E9A32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7A571-39C8-4330-8CFD-64DFFE4E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6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E6BFF"/>
                </a:solidFill>
                <a:latin typeface="PingFang SC"/>
                <a:ea typeface="PingFang SC"/>
                <a:cs typeface="PingFang SC"/>
              </a:rPr>
              <a:t>WAIC 2018–2026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4321E-7438-41B4-8B66-AE8A9885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看见变化，</a:t>
            </a:r>
          </a:p>
          <a:p xmlns:a="http://schemas.openxmlformats.org/drawingml/2006/main">
            <a:pPr algn="l">
              <a:defRPr sz="540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把看见变成可用的知识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F0998A-8B79-42E8-9446-0F2BB23C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普通人视角的历史判断 + LLM Wiki 的规模化治理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514350" y="5010150"/>
            <a:ext cx="7086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1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1A397-5601-4364-8AC1-87F7C9C6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问题驱动 · 证据可回溯 · 冲突不抹平 · 输出可复用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83FB5A-B431-4A09-A3A3-A8462019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基于 Q001 首轮 18 份代表性来源与治理 v1.0</a:t>
            </a:r>
          </a:p>
        </p:txBody>
      </p:sp>
    </p:spTree>
    <p:extLst>
      <p:ext uri="{BB962C8B-B14F-4D97-AF65-F5344CB8AC3E}">
        <p14:creationId xmlns:p14="http://schemas.microsoft.com/office/powerpoint/2010/main" val="11875411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723124-6BBB-4B85-AFE4-EC5828E3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6B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E6BFF"/>
                </a:solidFill>
                <a:latin typeface="PingFang SC"/>
                <a:ea typeface="PingFang SC"/>
                <a:cs typeface="PingFang SC"/>
              </a:rPr>
              <a:t>FRAMING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09B374-8F1F-4839-A943-F6D28396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7A824-B7C1-4401-BD5E-1B9E4677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一个问题，必须同时给出两种答案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1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16CD1-998E-4C2E-8311-AC61AA72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Q001：历年 WAIC 的变化，普通人能看到什么？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EC3571-E5DE-4FA7-BDA6-11AE0183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它既是历史问题，也是治理问题。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91D99-BBA6-473D-B57C-70763531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52197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0">
            <a:solidFill>
              <a:srgbClr val="E8F0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F72879-A328-4E52-85D0-C6A35F81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52750"/>
            <a:ext cx="52197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0">
            <a:solidFill>
              <a:srgbClr val="FFF4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89E42-280C-455B-B9DD-BC4F91F5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6B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E6BFF"/>
                </a:solidFill>
                <a:latin typeface="PingFang SC"/>
                <a:ea typeface="PingFang SC"/>
                <a:cs typeface="PingFang SC"/>
              </a:rPr>
              <a:t>历史答案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CF0F86-F6EA-420C-B480-88DEEDD8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3735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AI 的展示对象、交互方式与落地叙事如何变化？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FBADDD-72BB-4E8D-9363-0C3D5BB0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输出：阶段判断、普通人可观察的信号、反例与未知项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B1A0A-3D8D-4EB6-9239-CE257877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575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9A3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E9A32B"/>
                </a:solidFill>
                <a:latin typeface="PingFang SC"/>
                <a:ea typeface="PingFang SC"/>
                <a:cs typeface="PingFang SC"/>
              </a:rPr>
              <a:t>治理答案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B3E42E-3AB3-42E3-A959-97FC67F1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14750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怎样让结论能被复查、更新、复用，而不是再堆一批摘要？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ACCE9F-A38D-4458-931A-1190C79D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672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输出：来源注册、摄取协议、冲突处理、lint 与发布门禁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514350" y="638175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1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3C5489-8B8D-490A-9B97-0C844598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来源：Q001 问题页与 WAIC LLM Wiki Schema v0.1｜2026-07-21</a:t>
            </a:r>
          </a:p>
        </p:txBody>
      </p:sp>
    </p:spTree>
    <p:extLst>
      <p:ext uri="{BB962C8B-B14F-4D97-AF65-F5344CB8AC3E}">
        <p14:creationId xmlns:p14="http://schemas.microsoft.com/office/powerpoint/2010/main" val="13217835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B66C03-0334-45B8-981B-5C82EEB7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6B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E6BFF"/>
                </a:solidFill>
                <a:latin typeface="PingFang SC"/>
                <a:ea typeface="PingFang SC"/>
                <a:cs typeface="PingFang SC"/>
              </a:rPr>
              <a:t>HISTORICAL READ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7284FC-805B-416F-9551-7B640572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7F785-50A0-40D7-90CC-ACAE3F90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九年样本不是一条直线，而是四次交互范式变化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1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ABA1E-AD58-4C59-9FF4-6FFE2063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2543175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0">
            <a:solidFill>
              <a:srgbClr val="E8F0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BFC18-D9A9-4938-B2AB-89D41449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76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FF"/>
          </a:solidFill>
          <a:ln xmlns:a="http://schemas.openxmlformats.org/drawingml/2006/main" w="0">
            <a:solidFill>
              <a:srgbClr val="2E6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E6C4B-32DD-405F-B07C-E3264C1A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105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6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E6BFF"/>
                </a:solidFill>
                <a:latin typeface="PingFang SC"/>
                <a:ea typeface="PingFang SC"/>
                <a:cs typeface="PingFang SC"/>
              </a:rPr>
              <a:t>2018–2019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81971-69BA-4881-9B78-5488EF3E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2105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技术展品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B9AA20-2D7D-4C01-B2C4-3734F62A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20859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看见、试玩、科普：刷脸、推荐、机器人、AI 作画与主持。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45A7D-AEEA-45EA-AD11-A30A2357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85950"/>
            <a:ext cx="2543175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7F4"/>
          </a:solidFill>
          <a:ln xmlns:a="http://schemas.openxmlformats.org/drawingml/2006/main" w="0">
            <a:solidFill>
              <a:srgbClr val="E6F7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84CD39-53C5-4D36-91AE-979776F9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85950"/>
            <a:ext cx="76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A0"/>
          </a:solidFill>
          <a:ln xmlns:a="http://schemas.openxmlformats.org/drawingml/2006/main" w="0">
            <a:solidFill>
              <a:srgbClr val="12A7A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437133-6E5E-46BF-BB7A-FF333480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95500"/>
            <a:ext cx="2105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A7A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2A7A0"/>
                </a:solidFill>
                <a:latin typeface="PingFang SC"/>
                <a:ea typeface="PingFang SC"/>
                <a:cs typeface="PingFang SC"/>
              </a:rPr>
              <a:t>2020–2022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303C0D-CC37-42C1-80C6-F0C12134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19350"/>
            <a:ext cx="2105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数字空间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4C309F-9B4A-4772-A1F3-408A78FE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05150"/>
            <a:ext cx="20859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云端会展、城市服务与沉浸体验；线上触达与元宇宙成为焦点。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F6A77A-F729-4914-9314-209E979A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85950"/>
            <a:ext cx="2543175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F4"/>
          </a:solidFill>
          <a:ln xmlns:a="http://schemas.openxmlformats.org/drawingml/2006/main" w="0">
            <a:solidFill>
              <a:srgbClr val="FCEB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F56D6E-BE7D-469B-AFC4-0D015114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85950"/>
            <a:ext cx="76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E92"/>
          </a:solidFill>
          <a:ln xmlns:a="http://schemas.openxmlformats.org/drawingml/2006/main" w="0">
            <a:solidFill>
              <a:srgbClr val="D64E9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3DA83E-C141-47BC-AC09-5E8865A3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2105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4E9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64E92"/>
                </a:solidFill>
                <a:latin typeface="PingFang SC"/>
                <a:ea typeface="PingFang SC"/>
                <a:cs typeface="PingFang SC"/>
              </a:rPr>
              <a:t>2023–2024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2AF084-6C1A-4BEB-937A-5678E18E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19350"/>
            <a:ext cx="2105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生成与执行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1EAA0E-0500-4940-86CC-8B4248BA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05150"/>
            <a:ext cx="20859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大模型生成内容，无人系统与人形机器人开始进入受限任务场景。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1CFC31-9AB8-4D4B-8602-F08B28E7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85950"/>
            <a:ext cx="2543175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0">
            <a:solidFill>
              <a:srgbClr val="FFF4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7D59F2-62AA-4A46-9397-2D011D37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85950"/>
            <a:ext cx="76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32B"/>
          </a:solidFill>
          <a:ln xmlns:a="http://schemas.openxmlformats.org/drawingml/2006/main" w="0">
            <a:solidFill>
              <a:srgbClr val="E9A3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D0B6C6-8114-48B7-BE18-8C84A767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95500"/>
            <a:ext cx="2105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A32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E9A32B"/>
                </a:solidFill>
                <a:latin typeface="PingFang SC"/>
                <a:ea typeface="PingFang SC"/>
                <a:cs typeface="PingFang SC"/>
              </a:rPr>
              <a:t>2025–2026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73CEB3-0A65-48B4-A27C-D5456047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19350"/>
            <a:ext cx="2105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任务伙伴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33BD74-C4D4-4E12-824D-DCE68F6D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05150"/>
            <a:ext cx="20859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智能体、具身系统和消费终端承担规划、交付与服务入口。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DBD85F-1E8B-4190-8EEA-29BEA0D0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291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核心不是技术名称更替，而是人和 AI 的关系从“观看”走向“委派”。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514350" y="638175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1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182ED3-C613-4FA7-80C5-8FE043E2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来源：SYN001《2018–2026 WAIC 变化：普通人视角》；C001–C004｜结论为 provisional</a:t>
            </a:r>
          </a:p>
        </p:txBody>
      </p:sp>
    </p:spTree>
    <p:extLst>
      <p:ext uri="{BB962C8B-B14F-4D97-AF65-F5344CB8AC3E}">
        <p14:creationId xmlns:p14="http://schemas.microsoft.com/office/powerpoint/2010/main" val="10267513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84DCED-C7CC-40C9-93F4-91858E85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6B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E6BFF"/>
                </a:solidFill>
                <a:latin typeface="PingFang SC"/>
                <a:ea typeface="PingFang SC"/>
                <a:cs typeface="PingFang SC"/>
              </a:rPr>
              <a:t>HUMAN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0BE2E-2D0B-4667-AF7C-3C1692D4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0E3F9-8BDE-47C6-A473-543F1127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普通人真正能看到的，是五个行为变化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1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F47A93-78F6-4847-AEE2-C145C5A6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38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BFF"/>
          </a:solidFill>
          <a:ln xmlns:a="http://schemas.openxmlformats.org/drawingml/2006/main" w="0">
            <a:solidFill>
              <a:srgbClr val="2E6B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88E572-68DC-4D34-B752-D3348127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90700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入口变了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ACB05-934B-488B-8A5B-B4D2E4B9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从学习菜单与专业软件，转向直接表达意图。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2A962-323E-4E54-A4FF-7CF194C7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33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7A0"/>
          </a:solidFill>
          <a:ln xmlns:a="http://schemas.openxmlformats.org/drawingml/2006/main" w="0">
            <a:solidFill>
              <a:srgbClr val="12A7A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7407C4-C812-4C82-9DB7-E2E4867C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86050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任务变长了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EA4A5-873B-4949-85EF-8C9DF5BE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从识别和推荐，走到生成成品、规划路线和多步骤执行。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D0515-711E-42A3-9D89-CF7C08D9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E92"/>
          </a:solidFill>
          <a:ln xmlns:a="http://schemas.openxmlformats.org/drawingml/2006/main" w="0">
            <a:solidFill>
              <a:srgbClr val="D64E9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3BF3A6-46A7-49CA-803E-8CC58BD3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81400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载体变多了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AE4371-B1DD-4961-B9DE-E35C60B3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4810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AI 从网页和屏幕进入汽车、眼镜、机器人、药房与城市空间。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35DC1D-AEE7-4E94-A5F1-56858A06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38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32B"/>
          </a:solidFill>
          <a:ln xmlns:a="http://schemas.openxmlformats.org/drawingml/2006/main" w="0">
            <a:solidFill>
              <a:srgbClr val="E9A3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63CDC4-3F55-44D2-8223-36BD58DA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90700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大会也变了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C72DFF-B38D-454A-842F-69809059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5740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从展示 AI，走向用 AI 组织展会、连接城市并沉淀内容。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D4EB4F-4A15-4525-8C5F-BE0DE8B3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33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BFF"/>
          </a:solidFill>
          <a:ln xmlns:a="http://schemas.openxmlformats.org/drawingml/2006/main" w="0">
            <a:solidFill>
              <a:srgbClr val="2E6B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0B1D34-F262-420A-B9F0-87A3B795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86050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问题变现实了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DACA70-28F3-4D97-AEB5-300B19DC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527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关注点从“酷不酷”变成价格、效率、就业、隐私与责任。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32DF15-F54C-499D-99CA-C95ADE8E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76650"/>
            <a:ext cx="4457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0">
            <a:solidFill>
              <a:srgbClr val="E8F0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951DBF-EB80-4CA0-BF2C-DFBEB464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671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6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E6BFF"/>
                </a:solidFill>
                <a:latin typeface="PingFang SC"/>
                <a:ea typeface="PingFang SC"/>
                <a:cs typeface="PingFang SC"/>
              </a:rPr>
              <a:t>普通人的判断重点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E403A1-FF93-4986-AACE-19FFED47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10050"/>
            <a:ext cx="3752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54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不是“它能不能演示”，而是“它能否稳定替我完成一件事”。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514350" y="638175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1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D3F8B4-679B-4B15-989F-F806800C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来源：SYN001《普通人真正能观察的五个变化》</a:t>
            </a:r>
          </a:p>
        </p:txBody>
      </p:sp>
    </p:spTree>
    <p:extLst>
      <p:ext uri="{BB962C8B-B14F-4D97-AF65-F5344CB8AC3E}">
        <p14:creationId xmlns:p14="http://schemas.microsoft.com/office/powerpoint/2010/main" val="6785000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9E1F7D-F58B-4B1B-84B3-CE7051A7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6B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E6BFF"/>
                </a:solidFill>
                <a:latin typeface="PingFang SC"/>
                <a:ea typeface="PingFang SC"/>
                <a:cs typeface="PingFang SC"/>
              </a:rPr>
              <a:t>COUNTEREXAMPLE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55EA9-6819-4E39-997C-E098B376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E5FDA-C5CF-49A7-B188-3AF1D5B7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最有价值的发现：热点切换不是成熟度曲线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1"/>
            </a:solidFill>
            <a:prstDash val="solid"/>
          </a:ln>
        </p:spPr>
      </p:cxnSp>
      <p:cxnSp>
        <p:nvCxnSpPr>
          <p:cNvPr id="30" name=""/>
          <p:cNvCxnSpPr/>
          <p:nvPr/>
        </p:nvCxnSpPr>
        <p:spPr>
          <a:xfrm xmlns:a="http://schemas.openxmlformats.org/drawingml/2006/main">
            <a:off x="1238250" y="3162300"/>
            <a:ext cx="9334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5DAE1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6F2BCF-99E5-4F35-B08E-70AFD451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575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BFF"/>
          </a:solidFill>
          <a:ln xmlns:a="http://schemas.openxmlformats.org/drawingml/2006/main" w="0">
            <a:solidFill>
              <a:srgbClr val="2E6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9E148-7BC8-4747-9AB5-631EE8E6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289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6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E6BFF"/>
                </a:solidFill>
                <a:latin typeface="PingFang SC"/>
                <a:ea typeface="PingFang SC"/>
                <a:cs typeface="PingFang SC"/>
              </a:rPr>
              <a:t>2020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192D3-E971-41F1-827D-5B2C1290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05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云端会展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3272DE-6990-4DAE-87B4-42F1C7EC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疫情推动 AI 进入办会基础设施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DCE2F2-DC96-4055-BFDF-F4B9445D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575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E92"/>
          </a:solidFill>
          <a:ln xmlns:a="http://schemas.openxmlformats.org/drawingml/2006/main" w="0">
            <a:solidFill>
              <a:srgbClr val="D64E9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5AD705-2A45-47A4-8F37-F9451D8C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289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4E9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64E92"/>
                </a:solidFill>
                <a:latin typeface="PingFang SC"/>
                <a:ea typeface="PingFang SC"/>
                <a:cs typeface="PingFang SC"/>
              </a:rPr>
              <a:t>2022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9F28D-9114-4442-AFC1-D85F2829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05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元宇宙高热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7C4942-F57F-47C1-9791-7648F97E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052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沉浸体验与虚拟空间被集中放大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ED369C-BC14-47CC-8911-DA328D02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575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7A0"/>
          </a:solidFill>
          <a:ln xmlns:a="http://schemas.openxmlformats.org/drawingml/2006/main" w="0">
            <a:solidFill>
              <a:srgbClr val="12A7A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BDD646-1BA2-447E-869D-4C20B821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289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A7A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2A7A0"/>
                </a:solidFill>
                <a:latin typeface="PingFang SC"/>
                <a:ea typeface="PingFang SC"/>
                <a:cs typeface="PingFang SC"/>
              </a:rPr>
              <a:t>2023–24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374D86-A1DA-46A7-A5E9-A0C9B4B5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05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大模型与具身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E8AD1B-DD0F-4F3D-ADE9-9CD7CECC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052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生成式交互与物理自动化成为中心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5D9509-A13C-41B7-9488-7077C816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575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32B"/>
          </a:solidFill>
          <a:ln xmlns:a="http://schemas.openxmlformats.org/drawingml/2006/main" w="0">
            <a:solidFill>
              <a:srgbClr val="E9A3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77DE00-ABBB-48B3-A9A4-E77A2641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289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A32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E9A32B"/>
                </a:solidFill>
                <a:latin typeface="PingFang SC"/>
                <a:ea typeface="PingFang SC"/>
                <a:cs typeface="PingFang SC"/>
              </a:rPr>
              <a:t>2025–26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A678DC-8300-4E0A-AFBF-173F505E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05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智能体与任务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F80378-DD13-4FF6-B4E9-399C00B4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052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从展示对象走向服务入口与执行者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9CCE25-8115-433C-9E57-3600A4E9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10150"/>
            <a:ext cx="11163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F4"/>
          </a:solidFill>
          <a:ln xmlns:a="http://schemas.openxmlformats.org/drawingml/2006/main" w="0">
            <a:solidFill>
              <a:srgbClr val="FCEBF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D79B92-6682-4F38-8EC6-49B9013C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292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治理含义：把“大会热词”当作待验证假设，而不是直接写进长期结论。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514350" y="638175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1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57A6AE-821C-4FBC-A245-6672249F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来源：T001《大会可见性与社会采用之间的距离》；2022 元宇宙案例为开放反证</a:t>
            </a:r>
          </a:p>
        </p:txBody>
      </p:sp>
    </p:spTree>
    <p:extLst>
      <p:ext uri="{BB962C8B-B14F-4D97-AF65-F5344CB8AC3E}">
        <p14:creationId xmlns:p14="http://schemas.microsoft.com/office/powerpoint/2010/main" val="18789672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5B9805-8C14-40A2-927E-FC9F608B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6B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E6BFF"/>
                </a:solidFill>
                <a:latin typeface="PingFang SC"/>
                <a:ea typeface="PingFang SC"/>
                <a:cs typeface="PingFang SC"/>
              </a:rPr>
              <a:t>EVIDENCE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E0D9C-2DBF-4513-8A7A-FC0B3881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BEA9A-D68F-4489-962A-1ECF04C3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“看见”到“采用”之间，至少隔着四道证据门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1"/>
            </a:solidFill>
            <a:prstDash val="solid"/>
          </a:ln>
        </p:spPr>
      </p:cxnSp>
      <p:cxnSp>
        <p:nvCxnSpPr>
          <p:cNvPr id="31" name=""/>
          <p:cNvCxnSpPr/>
          <p:nvPr/>
        </p:nvCxnSpPr>
        <p:spPr>
          <a:xfrm xmlns:a="http://schemas.openxmlformats.org/drawingml/2006/main">
            <a:off x="3171825" y="3381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5DAE1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6447A-CD25-4332-A61C-42F19230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23526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0">
            <a:solidFill>
              <a:srgbClr val="E8F0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EE35B-2FC7-4819-AFC1-8736A97F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6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E6B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357A3C-45C5-4432-AF48-C25438D9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1933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大会展示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7950D5-A402-4C97-A761-BBF7C1B1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看得见、可试玩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5886450" y="3381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5DAE1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CA1DE3-2E0C-4395-A558-7BF1DB05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609850"/>
            <a:ext cx="23526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F4"/>
          </a:solidFill>
          <a:ln xmlns:a="http://schemas.openxmlformats.org/drawingml/2006/main" w="0">
            <a:solidFill>
              <a:srgbClr val="FCEB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0F8166-139D-4536-859C-C614D9EE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194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4E9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64E92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E44668-B7B5-4BAC-8151-3F5E0632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200400"/>
            <a:ext cx="1933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厂商主张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7BEBDA-A2D9-4059-A465-F2430B6A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63855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发布、参数、签约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8601075" y="3381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5DAE1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900560-07EB-4996-A8CD-FD83562B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09850"/>
            <a:ext cx="23526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7F4"/>
          </a:solidFill>
          <a:ln xmlns:a="http://schemas.openxmlformats.org/drawingml/2006/main" w="0">
            <a:solidFill>
              <a:srgbClr val="E6F7F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19D346-668F-4CC5-870C-8FC210C9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194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A7A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2A7A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065EB3-A826-43A1-BA00-37149D39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0400"/>
            <a:ext cx="1933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局部运营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5F8D5C-9245-4387-97A3-942DF9F7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订单、门店、交付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C5CF3E-4718-4FD8-8D87-38A304C4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609850"/>
            <a:ext cx="23526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0">
            <a:solidFill>
              <a:srgbClr val="FFF4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BF0373-A3EB-4A28-94A7-4FF3435D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194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A32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E9A32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9AD45D-56C2-42F0-BFDC-8F93D6FF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00400"/>
            <a:ext cx="1933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社会采用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331578-6479-4F5B-901D-61CEC21F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63855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价格、留存、可靠性、责任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BE631F-3293-4DE0-AB5B-1B54D8C8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58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Q001 的边界：现有材料足以识别展示对象和交互方式的变化；不足以证明相关技术已经普遍成熟采用。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514350" y="638175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1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C7054D-904E-4DD1-A4DD-CA100918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来源：Q001、T001；来源多为摘要、会展材料与展商自报，需保留限制说明</a:t>
            </a:r>
          </a:p>
        </p:txBody>
      </p:sp>
    </p:spTree>
    <p:extLst>
      <p:ext uri="{BB962C8B-B14F-4D97-AF65-F5344CB8AC3E}">
        <p14:creationId xmlns:p14="http://schemas.microsoft.com/office/powerpoint/2010/main" val="6767106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77219E-A517-4340-B0C0-D4BA063A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6B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E6BFF"/>
                </a:solidFill>
                <a:latin typeface="PingFang SC"/>
                <a:ea typeface="PingFang SC"/>
                <a:cs typeface="PingFang SC"/>
              </a:rPr>
              <a:t>PILOT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2FBBA-11FB-42A7-AEB9-B1ACC004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C3B60C-5F79-4804-BA35-3F9FF359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Q001 试点证明：问题可以把资料池变成可审查答案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1"/>
            </a:solidFill>
            <a:prstDash val="solid"/>
          </a:ln>
        </p:spPr>
      </p:cxnSp>
      <p:cxnSp>
        <p:nvCxnSpPr>
          <p:cNvPr id="35" name=""/>
          <p:cNvCxnSpPr/>
          <p:nvPr/>
        </p:nvCxnSpPr>
        <p:spPr>
          <a:xfrm xmlns:a="http://schemas.openxmlformats.org/drawingml/2006/main">
            <a:off x="2419350" y="26003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5DAE1"/>
            </a:solidFill>
            <a:prstDash val="solid"/>
          </a:ln>
        </p:spPr>
      </p:cxnSp>
      <p:cxnSp>
        <p:nvCxnSpPr>
          <p:cNvPr id="36" name=""/>
          <p:cNvCxnSpPr/>
          <p:nvPr/>
        </p:nvCxnSpPr>
        <p:spPr>
          <a:xfrm xmlns:a="http://schemas.openxmlformats.org/drawingml/2006/main">
            <a:off x="4991100" y="26003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5DAE1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7562850" y="26003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5DAE1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28918B-C739-4C47-8026-0FC6A47E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905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58805-D2D1-4234-B21B-F35D3236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FF"/>
          </a:solidFill>
          <a:ln xmlns:a="http://schemas.openxmlformats.org/drawingml/2006/main" w="0">
            <a:solidFill>
              <a:srgbClr val="2E6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C0FD16-E749-4FA2-B2E9-F7D2C8B7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18 份来源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2834EB-5801-4383-9B22-83F86FF9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2018–2026；每年两类代表材料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67CF70-A983-47CA-AC94-E396C1F8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95500"/>
            <a:ext cx="1905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1B6228-8628-4269-BEBF-DE9F7EF8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95500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A0"/>
          </a:solidFill>
          <a:ln xmlns:a="http://schemas.openxmlformats.org/drawingml/2006/main" w="0">
            <a:solidFill>
              <a:srgbClr val="12A7A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4DCACC-D4E0-4512-99F4-640BD551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2860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4 条 claim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455653-C679-4B0A-90F9-24148729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9080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按阶段记录可判断主张与出处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C14B4C-D457-42CB-9EB4-0795D0A7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095500"/>
            <a:ext cx="1905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7C06D1-CCAB-43DC-9EAC-D03790A8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095500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E92"/>
          </a:solidFill>
          <a:ln xmlns:a="http://schemas.openxmlformats.org/drawingml/2006/main" w="0">
            <a:solidFill>
              <a:srgbClr val="D64E9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E32179-A23C-484E-AD99-6BFC6808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860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1 条 tension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FCA4BB-8AAB-4E77-B413-CC017D10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9080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展示可见性不等于社会采用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D16B01-911D-4443-B805-2780E214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1905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24D45C-005F-4D34-B558-2CF16B83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32B"/>
          </a:solidFill>
          <a:ln xmlns:a="http://schemas.openxmlformats.org/drawingml/2006/main" w="0">
            <a:solidFill>
              <a:srgbClr val="E9A3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AC5682-5876-474A-92D4-DD5FD4F5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860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1 份 synthesis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425652-1A63-40E6-AC43-51540F76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9080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形成可追溯的阶段性答案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5A69EC-12D4-433D-B9E1-8C9D0562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49911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5DA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02DADF-88FB-4AAF-B059-FB30722C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6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E6BFF"/>
                </a:solidFill>
                <a:latin typeface="PingFang SC"/>
                <a:ea typeface="PingFang SC"/>
                <a:cs typeface="PingFang SC"/>
              </a:rPr>
              <a:t>已有的二阶解读资产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20DCEA-A6DE-458D-9D20-418A17BF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493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不是丢弃旧 MECE、卡片和看板，而是把它们连接到可复查的证据链。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4a912061de423a"/>
          <a:srcRect xmlns:a="http://schemas.openxmlformats.org/drawingml/2006/main" l="0" t="35749" r="0" b="357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3714750"/>
            <a:ext cx="5562600" cy="16383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F5AF66-B437-46AB-80FB-A0BC6AD5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429250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现有 2026 看板：可成为输出层，不再是唯一知识入口</a:t>
            </a:r>
          </a:p>
        </p:txBody>
      </p:sp>
      <p:cxnSp>
        <p:nvCxnSpPr>
          <p:cNvPr id="59" name=""/>
          <p:cNvCxnSpPr/>
          <p:nvPr/>
        </p:nvCxnSpPr>
        <p:spPr>
          <a:xfrm xmlns:a="http://schemas.openxmlformats.org/drawingml/2006/main">
            <a:off x="514350" y="638175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1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62EF0A-4DD6-4B3D-9D29-28EBEB16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来源：Q001-SOURCES、C001–C004、T001、SYN001；右图：4-outputs/2026/figures/0718-dashboard.png</a:t>
            </a:r>
          </a:p>
        </p:txBody>
      </p:sp>
    </p:spTree>
    <p:extLst>
      <p:ext uri="{BB962C8B-B14F-4D97-AF65-F5344CB8AC3E}">
        <p14:creationId xmlns:p14="http://schemas.microsoft.com/office/powerpoint/2010/main" val="20141646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E7E054-3E2C-4808-93E3-E039FE2F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6B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E6BFF"/>
                </a:solidFill>
                <a:latin typeface="PingFang SC"/>
                <a:ea typeface="PingFang SC"/>
                <a:cs typeface="PingFang SC"/>
              </a:rPr>
              <a:t>SCALE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34307-3424-4F33-AE65-81E0E377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B73A9-0046-443A-899B-BF24C630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规模化的难点不在“资料不够”，而在身份与谱系不清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1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4397D-7838-48A0-A0A4-A45E8B7C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2571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5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24FCB-0BB0-4488-83F0-169DD089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FF"/>
          </a:solidFill>
          <a:ln xmlns:a="http://schemas.openxmlformats.org/drawingml/2006/main" w="0">
            <a:solidFill>
              <a:srgbClr val="2E6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88BE96-4FF6-4214-BCE3-5997472A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71675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E6B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E6BFF"/>
                </a:solidFill>
                <a:latin typeface="PingFang SC"/>
                <a:ea typeface="PingFang SC"/>
                <a:cs typeface="PingFang SC"/>
              </a:rPr>
              <a:t>860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0A595C-B50D-4F32-BE0B-555E5825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本地来源记录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3E886B-AD10-413E-856F-A43EBF0D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52600"/>
            <a:ext cx="2571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5DA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88DEB6-F204-4062-A0AD-0D404161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526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A0"/>
          </a:solidFill>
          <a:ln xmlns:a="http://schemas.openxmlformats.org/drawingml/2006/main" w="0">
            <a:solidFill>
              <a:srgbClr val="12A7A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04F536-AC0E-4DBE-8B33-3509D302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71675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A7A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2A7A0"/>
                </a:solidFill>
                <a:latin typeface="PingFang SC"/>
                <a:ea typeface="PingFang SC"/>
                <a:cs typeface="PingFang SC"/>
              </a:rPr>
              <a:t>835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43EA0-1707-4C3A-806D-C5DA4525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3365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唯一 Get笔记 note_id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F59278-7EF2-4006-87AD-68F73E0D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2571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5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A6073E-FF0C-4099-A8C2-E343167E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E92"/>
          </a:solidFill>
          <a:ln xmlns:a="http://schemas.openxmlformats.org/drawingml/2006/main" w="0">
            <a:solidFill>
              <a:srgbClr val="D64E9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AA7BAC-24AE-4097-92FC-4DD89D57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64E9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D64E92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8E1C3A-A1C4-4043-B924-1E12DC12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3365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跨 raw/data 同源组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087866-19E0-438E-BF34-743E8C71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52600"/>
            <a:ext cx="2571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5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054822-240B-44EA-B578-1E8A7996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526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32B"/>
          </a:solidFill>
          <a:ln xmlns:a="http://schemas.openxmlformats.org/drawingml/2006/main" w="0">
            <a:solidFill>
              <a:srgbClr val="E9A3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E7038A-9ADB-427A-B50E-52891871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71675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9A32B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E9A32B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80D3AF-2705-4396-9300-9BF7A42C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3365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治理工作模式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6073B3-C5F6-461E-9383-D1C64B51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909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来源库存按事件年份分布</a:t>
            </a:r>
          </a:p>
        </p:txBody>
      </p:sp>
      <p:graphicFrame>
        <p:nvGraphicFramePr>
          <p:cNvPr id="54" name="Chart"/>
          <p:cNvGraphicFramePr/>
          <p:nvPr/>
        </p:nvGraphicFramePr>
        <p:xfrm>
          <a:off xmlns:a="http://schemas.openxmlformats.org/drawingml/2006/main" x="514350" y="3752850"/>
          <a:ext xmlns:a="http://schemas.openxmlformats.org/drawingml/2006/main" cx="6810375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dce741cbd44a04"/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0584F6-9BC2-4F68-A6D9-8D282010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33800"/>
            <a:ext cx="3810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5DA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0BC11D-2AF2-4FC6-8393-7FE08765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338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E92"/>
          </a:solidFill>
          <a:ln xmlns:a="http://schemas.openxmlformats.org/drawingml/2006/main" w="0">
            <a:solidFill>
              <a:srgbClr val="D64E9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2BE50A-87C1-4530-A107-BC767A73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76675"/>
            <a:ext cx="3486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不要把它当成行业热度图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F5A3DE-563A-49B2-BB16-2B35DF2A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43375"/>
            <a:ext cx="3486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它只反映当前资料覆盖和采集结构；2025–2026 更高，不能据此直接比较产业发展速度。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C37399-26EF-492D-8E46-97440B07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81550"/>
            <a:ext cx="3810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5DA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6CF79E-66D3-4232-AEB5-D9C50835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815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A0"/>
          </a:solidFill>
          <a:ln xmlns:a="http://schemas.openxmlformats.org/drawingml/2006/main" w="0">
            <a:solidFill>
              <a:srgbClr val="12A7A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FC906D-E814-4CF3-A28A-DD76151F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24425"/>
            <a:ext cx="3486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注册表的第一项价值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97277D-80D5-4934-8817-37B7290B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91125"/>
            <a:ext cx="3486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先把“本地文件身份”和“底层来源身份”分开，才能保留高保真副本并避免重复计数。</a:t>
            </a:r>
          </a:p>
        </p:txBody>
      </p:sp>
      <p:cxnSp>
        <p:nvCxnSpPr>
          <p:cNvPr id="63" name=""/>
          <p:cNvCxnSpPr/>
          <p:nvPr/>
        </p:nvCxnSpPr>
        <p:spPr>
          <a:xfrm xmlns:a="http://schemas.openxmlformats.org/drawingml/2006/main">
            <a:off x="514350" y="638175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1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7E2ECE-632B-4D80-AF47-3CF2F8A8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来源：3-processing/index/source-registry.snapshot.json｜生成于 2026-07-21；按 eventYear 汇总</a:t>
            </a:r>
          </a:p>
        </p:txBody>
      </p:sp>
    </p:spTree>
    <p:extLst>
      <p:ext uri="{BB962C8B-B14F-4D97-AF65-F5344CB8AC3E}">
        <p14:creationId xmlns:p14="http://schemas.microsoft.com/office/powerpoint/2010/main" val="10910361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E84552-1514-4EF4-AC79-CA181B6C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6B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E6BFF"/>
                </a:solidFill>
                <a:latin typeface="PingFang SC"/>
                <a:ea typeface="PingFang SC"/>
                <a:cs typeface="PingFang SC"/>
              </a:rPr>
              <a:t>TARGET OPERATING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0F512-110D-4DC1-AB72-51A152EA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B393F-E7BF-4629-9D84-5A8F7945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目标运行模型：让来源、判断与输出各归其位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1"/>
            </a:solidFill>
            <a:prstDash val="solid"/>
          </a:ln>
        </p:spPr>
      </p:cxnSp>
      <p:cxnSp>
        <p:nvCxnSpPr>
          <p:cNvPr id="39" name=""/>
          <p:cNvCxnSpPr/>
          <p:nvPr/>
        </p:nvCxnSpPr>
        <p:spPr>
          <a:xfrm xmlns:a="http://schemas.openxmlformats.org/drawingml/2006/main">
            <a:off x="2362200" y="27432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5DAE1"/>
            </a:solidFill>
            <a:prstDash val="solid"/>
          </a:ln>
        </p:spPr>
      </p:cxnSp>
      <p:cxnSp>
        <p:nvCxnSpPr>
          <p:cNvPr id="40" name=""/>
          <p:cNvCxnSpPr/>
          <p:nvPr/>
        </p:nvCxnSpPr>
        <p:spPr>
          <a:xfrm xmlns:a="http://schemas.openxmlformats.org/drawingml/2006/main">
            <a:off x="4533900" y="27432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5DAE1"/>
            </a:solidFill>
            <a:prstDash val="solid"/>
          </a:ln>
        </p:spPr>
      </p:cxnSp>
      <p:cxnSp>
        <p:nvCxnSpPr>
          <p:cNvPr id="41" name=""/>
          <p:cNvCxnSpPr/>
          <p:nvPr/>
        </p:nvCxnSpPr>
        <p:spPr>
          <a:xfrm xmlns:a="http://schemas.openxmlformats.org/drawingml/2006/main">
            <a:off x="6705600" y="27432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5DAE1"/>
            </a:solidFill>
            <a:prstDash val="solid"/>
          </a:ln>
        </p:spPr>
      </p:cxnSp>
      <p:cxnSp>
        <p:nvCxnSpPr>
          <p:cNvPr id="42" name=""/>
          <p:cNvCxnSpPr/>
          <p:nvPr/>
        </p:nvCxnSpPr>
        <p:spPr>
          <a:xfrm xmlns:a="http://schemas.openxmlformats.org/drawingml/2006/main">
            <a:off x="8877300" y="27432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5DAE1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5F76EA-6CCE-4D7A-B825-DB1C9659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0"/>
            <a:ext cx="18478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1F9515-5D9B-4D63-95A3-930571EB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0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FF"/>
          </a:solidFill>
          <a:ln xmlns:a="http://schemas.openxmlformats.org/drawingml/2006/main" w="0">
            <a:solidFill>
              <a:srgbClr val="2E6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C8A14D-A03E-4F7E-9DE5-88D2E055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Register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78907F-4A81-4520-9249-370C9EC7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来源身份、时间、指纹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30CACB-5C51-43D3-87F0-8B33F4EE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86000"/>
            <a:ext cx="18478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E6D49F-AAF2-4F35-9629-F6235DCA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86000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A0"/>
          </a:solidFill>
          <a:ln xmlns:a="http://schemas.openxmlformats.org/drawingml/2006/main" w="0">
            <a:solidFill>
              <a:srgbClr val="12A7A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5917FB-6EF4-46FF-8B20-ECCF2F11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76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Triage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362B25-AD39-45C2-948F-903E0F41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813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按问题与保真度排队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E910CC-E89D-4EAA-AED8-7D48266D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86000"/>
            <a:ext cx="18478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AA388B-832D-4E8C-A8FB-847CA0B0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86000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E92"/>
          </a:solidFill>
          <a:ln xmlns:a="http://schemas.openxmlformats.org/drawingml/2006/main" w="0">
            <a:solidFill>
              <a:srgbClr val="D64E9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EED951-66C2-4B91-A357-4782EF8A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76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Extract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9FF051-A1D6-4147-981F-BFBD426D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813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候选 claim 与定位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EA2337-9364-4D50-AC5F-FA22F42D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86000"/>
            <a:ext cx="18478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914F87-BE36-4772-A8B0-697C2D38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86000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32B"/>
          </a:solidFill>
          <a:ln xmlns:a="http://schemas.openxmlformats.org/drawingml/2006/main" w="0">
            <a:solidFill>
              <a:srgbClr val="E9A32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A39753-D228-42B7-AF17-DBB529DC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76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Integrate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0E1FEE-A0AB-4C29-ABD1-9E34D3DB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813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claim、tension、synthesis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0538A4-E613-43C8-A1B6-598C120A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86000"/>
            <a:ext cx="18478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6E2674-2DE1-484B-BD6E-8CF97493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86000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FF"/>
          </a:solidFill>
          <a:ln xmlns:a="http://schemas.openxmlformats.org/drawingml/2006/main" w="0">
            <a:solidFill>
              <a:srgbClr val="2E6B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E4678F-F27A-4001-AFEF-FE0D1AA8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76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Release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9F94CD-EE53-40F0-9B4F-D59EEDDB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813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PPT、卡片、报告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C68300-82FD-4D58-9BF8-42C99CF2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11163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5DA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8CB3C4-51F6-4EB1-9502-13D0D2DA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4E9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64E92"/>
                </a:solidFill>
                <a:latin typeface="PingFang SC"/>
                <a:ea typeface="PingFang SC"/>
                <a:cs typeface="PingFang SC"/>
              </a:rPr>
              <a:t>横向治理层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29B14A-6798-49D7-B036-2DF8AF57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957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Schema · 时间语义 · 保真度 · 冲突登记 · lint · 发布门禁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0E48EB-E5C3-4D6C-ACDC-EDB10CC3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14875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原始来源永远不被 Wiki 或输出层改写。</a:t>
            </a:r>
          </a:p>
        </p:txBody>
      </p:sp>
      <p:cxnSp>
        <p:nvCxnSpPr>
          <p:cNvPr id="67" name=""/>
          <p:cNvCxnSpPr/>
          <p:nvPr/>
        </p:nvCxnSpPr>
        <p:spPr>
          <a:xfrm xmlns:a="http://schemas.openxmlformats.org/drawingml/2006/main">
            <a:off x="514350" y="638175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1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6D7D25-5EBA-4048-B1A4-5F3B91DA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来源：Governance v1.0；SOURCE_REGISTRY_SCHEMA、INGESTION_PROTOCOL、LINT_AND_RELEASE</a:t>
            </a:r>
          </a:p>
        </p:txBody>
      </p:sp>
    </p:spTree>
    <p:extLst>
      <p:ext uri="{BB962C8B-B14F-4D97-AF65-F5344CB8AC3E}">
        <p14:creationId xmlns:p14="http://schemas.microsoft.com/office/powerpoint/2010/main" val="2813737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B08EFA-9546-4A5D-85F0-49302EE9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6B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E6BFF"/>
                </a:solidFill>
                <a:latin typeface="PingFang SC"/>
                <a:ea typeface="PingFang SC"/>
                <a:cs typeface="PingFang SC"/>
              </a:rPr>
              <a:t>GOVERNANCE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D6179-1E7B-4DCD-B566-FF4325F0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83AB5-F92B-4A6A-89AD-CDD31237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五项治理契约，决定知识库是否可信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1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12AF0-3EFD-4B49-990A-81DB35AA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契约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3F0E5-1E12-48AD-B0DC-1397FB57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695450"/>
            <a:ext cx="3486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必须保存什么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386E1-DEA3-44C4-8B40-96BAF6DF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954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它解决什么问题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514350" y="200025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1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BCFF07-6E19-4F09-A785-3EFB4FD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11163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207A81-D6FF-4B55-8813-C14FCE92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BFF"/>
          </a:solidFill>
          <a:ln xmlns:a="http://schemas.openxmlformats.org/drawingml/2006/main" w="0">
            <a:solidFill>
              <a:srgbClr val="2E6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FBCA7D-6244-4754-B1F4-A2B4DB14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身份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E81C19-BF3D-4B16-B573-A5D826C8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52650"/>
            <a:ext cx="348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sourceId 与 canonicalSourceId 分离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B0BEC-1257-4321-92B2-88AEDFE5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526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保留跨层高保真副本，避免重复计数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F9F1CF-A47D-42F1-B90B-0EFEA75F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7A0"/>
          </a:solidFill>
          <a:ln xmlns:a="http://schemas.openxmlformats.org/drawingml/2006/main" w="0">
            <a:solidFill>
              <a:srgbClr val="12A7A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3624A1-D982-4EC2-8AA3-1DE977C5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时间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AF8367-6421-4855-AE64-BAE8FED0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895600"/>
            <a:ext cx="348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96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eventYear、publishedAt、capturedAt、asOf 分离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C61D5A-0DBF-4DF8-9681-40241280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956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避免把采集日期错当作历史趋势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E9B68A-9125-49BB-9F77-AC9AE04B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11163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DF48EC-1266-4372-910C-DFFC4464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E92"/>
          </a:solidFill>
          <a:ln xmlns:a="http://schemas.openxmlformats.org/drawingml/2006/main" w="0">
            <a:solidFill>
              <a:srgbClr val="D64E9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598641-C843-47AD-8CC3-AD27F7F7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保真度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99E403-6444-4CB6-B868-97815E39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638550"/>
            <a:ext cx="348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86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verbatim / structured / summary / unknown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3829B1-FAC2-4022-A64E-DFA25102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385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不把摘要改写成发言原话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6A399D-8231-43F7-9AB5-DBB31635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32B"/>
          </a:solidFill>
          <a:ln xmlns:a="http://schemas.openxmlformats.org/drawingml/2006/main" w="0">
            <a:solidFill>
              <a:srgbClr val="E9A32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7B0A86-2FC7-4939-B0ED-46452CE0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冲突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929C60-C5C4-4EF9-8BE2-328B6627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81500"/>
            <a:ext cx="348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claim 不一致时进入 tension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A9F791-EA04-46A6-ADD6-51BDD556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815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新材料不能静默覆盖旧判断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287CCB-A91D-4341-9497-A3B88CED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11163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93A2BE-EAE7-4514-AD17-BB4EB3C0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BFF"/>
          </a:solidFill>
          <a:ln xmlns:a="http://schemas.openxmlformats.org/drawingml/2006/main" w="0">
            <a:solidFill>
              <a:srgbClr val="2E6B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2D3D39-DFAC-4630-9A81-45E7141E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发布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B2E47E-4D2C-443E-AEB4-CC80D514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124450"/>
            <a:ext cx="348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核心结论必须回到 claim 与来源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4ECF44-7D2B-44AA-AA0D-5E0A7E2A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1244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防止卡片、PPT 反向成为事实来源</a:t>
            </a:r>
          </a:p>
        </p:txBody>
      </p:sp>
      <p:cxnSp>
        <p:nvCxnSpPr>
          <p:cNvPr id="65" name=""/>
          <p:cNvCxnSpPr/>
          <p:nvPr/>
        </p:nvCxnSpPr>
        <p:spPr>
          <a:xfrm xmlns:a="http://schemas.openxmlformats.org/drawingml/2006/main">
            <a:off x="514350" y="638175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1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8BFC65-CEA4-47A0-8A0C-EAA6C1DC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来源：SOURCE_REGISTRY_SCHEMA v1.0；LINT_AND_RELEASE v1.0</a:t>
            </a:r>
          </a:p>
        </p:txBody>
      </p:sp>
    </p:spTree>
    <p:extLst>
      <p:ext uri="{BB962C8B-B14F-4D97-AF65-F5344CB8AC3E}">
        <p14:creationId xmlns:p14="http://schemas.microsoft.com/office/powerpoint/2010/main" val="11313623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EC4423-1658-4494-83DD-C2BC72D2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6B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E6BFF"/>
                </a:solidFill>
                <a:latin typeface="PingFang SC"/>
                <a:ea typeface="PingFang SC"/>
                <a:cs typeface="PingFang SC"/>
              </a:rPr>
              <a:t>OPERATING CADENCE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CF5498-3783-4569-BE82-AC327397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BEDF8-A9B2-4E30-B028-4C7AF9FA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治理不是一次性整理，而是一套持续运行的节奏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1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92E7F-4643-4C94-AD15-97BFF3F1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2228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5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E1BCF-0840-4905-B348-D701572F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E6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E6BFF"/>
                </a:solidFill>
                <a:latin typeface="PingFang SC"/>
                <a:ea typeface="PingFang SC"/>
                <a:cs typeface="PingFang SC"/>
              </a:rPr>
              <a:t>每次 raw 增量后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2838450" y="19907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5DAE1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93B44-DA01-40F0-999F-4CF8BC1B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14500"/>
            <a:ext cx="8153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CB7B0-94E1-4F4D-A284-ED244D29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1450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FF"/>
          </a:solidFill>
          <a:ln xmlns:a="http://schemas.openxmlformats.org/drawingml/2006/main" w="0">
            <a:solidFill>
              <a:srgbClr val="2E6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946AE-4F4D-43DD-AEC1-BFC4E4B2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76425"/>
            <a:ext cx="765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重建注册表，标出新增、变更与同源候选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F7D8AE-5984-4023-BF74-18DFD933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95550"/>
            <a:ext cx="2228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5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3630B2-BC31-4885-B09E-5FFF087E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A7A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A7A0"/>
                </a:solidFill>
                <a:latin typeface="PingFang SC"/>
                <a:ea typeface="PingFang SC"/>
                <a:cs typeface="PingFang SC"/>
              </a:rPr>
              <a:t>每周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2838450" y="27717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5DAE1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364E95-9AE0-41BD-8884-8E242669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95550"/>
            <a:ext cx="8153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73C1F-BDF2-4E38-91BC-25AE13C1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9555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A0"/>
          </a:solidFill>
          <a:ln xmlns:a="http://schemas.openxmlformats.org/drawingml/2006/main" w="0">
            <a:solidFill>
              <a:srgbClr val="12A7A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597BC6-E0E7-43A3-89CD-27123A22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57475"/>
            <a:ext cx="765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围绕活跃 question 整理 A/B/C 来源队列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D62375-A27C-4B3F-9924-98F47012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6600"/>
            <a:ext cx="2228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5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A0C515-4417-48C8-A561-BF7768CD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64E9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D64E92"/>
                </a:solidFill>
                <a:latin typeface="PingFang SC"/>
                <a:ea typeface="PingFang SC"/>
                <a:cs typeface="PingFang SC"/>
              </a:rPr>
              <a:t>每两周</a:t>
            </a:r>
          </a:p>
        </p:txBody>
      </p:sp>
      <p:cxnSp>
        <p:nvCxnSpPr>
          <p:cNvPr id="57" name=""/>
          <p:cNvCxnSpPr/>
          <p:nvPr/>
        </p:nvCxnSpPr>
        <p:spPr>
          <a:xfrm xmlns:a="http://schemas.openxmlformats.org/drawingml/2006/main">
            <a:off x="2838450" y="35528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5DAE1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32D33C-12BC-48BF-982B-94386AB2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76600"/>
            <a:ext cx="8153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753111-8315-4D68-8210-AB86F2F1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7660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E92"/>
          </a:solidFill>
          <a:ln xmlns:a="http://schemas.openxmlformats.org/drawingml/2006/main" w="0">
            <a:solidFill>
              <a:srgbClr val="D64E9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52160A-77F2-43CC-83A4-002D21CE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38525"/>
            <a:ext cx="765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摄取高价值来源，更新 claim、tension 与 synthesis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CDCA40-C1E6-49BD-BE5A-A7AC6E6E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2228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5DA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06D669-1B11-4FA2-A12C-BB2530EC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9A32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E9A32B"/>
                </a:solidFill>
                <a:latin typeface="PingFang SC"/>
                <a:ea typeface="PingFang SC"/>
                <a:cs typeface="PingFang SC"/>
              </a:rPr>
              <a:t>每月</a:t>
            </a:r>
          </a:p>
        </p:txBody>
      </p:sp>
      <p:cxnSp>
        <p:nvCxnSpPr>
          <p:cNvPr id="63" name=""/>
          <p:cNvCxnSpPr/>
          <p:nvPr/>
        </p:nvCxnSpPr>
        <p:spPr>
          <a:xfrm xmlns:a="http://schemas.openxmlformats.org/drawingml/2006/main">
            <a:off x="2838450" y="43338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5DAE1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086F69-4449-461A-AC8E-84A04FEC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57650"/>
            <a:ext cx="8153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3D3D21-FBB0-4685-8E8A-0FBD4942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5765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32B"/>
          </a:solidFill>
          <a:ln xmlns:a="http://schemas.openxmlformats.org/drawingml/2006/main" w="0">
            <a:solidFill>
              <a:srgbClr val="E9A32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27EA63-C761-49E0-81BA-4C8CEB14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19575"/>
            <a:ext cx="765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审查综合页是否过期、是否出现未处理冲突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7F2D01-8BB5-46DA-9900-AA9A58CD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38700"/>
            <a:ext cx="2228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5DA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DAC0ED-DC98-47C8-BB02-2E79BE5C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E6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E6BFF"/>
                </a:solidFill>
                <a:latin typeface="PingFang SC"/>
                <a:ea typeface="PingFang SC"/>
                <a:cs typeface="PingFang SC"/>
              </a:rPr>
              <a:t>每季度</a:t>
            </a:r>
          </a:p>
        </p:txBody>
      </p:sp>
      <p:cxnSp>
        <p:nvCxnSpPr>
          <p:cNvPr id="69" name=""/>
          <p:cNvCxnSpPr/>
          <p:nvPr/>
        </p:nvCxnSpPr>
        <p:spPr>
          <a:xfrm xmlns:a="http://schemas.openxmlformats.org/drawingml/2006/main">
            <a:off x="2838450" y="51149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5DAE1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E29664-F414-4FBF-8CBE-A782BDFC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38700"/>
            <a:ext cx="8153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CAE5E5-8F7B-409C-ACFA-ADEB64F0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3870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FF"/>
          </a:solidFill>
          <a:ln xmlns:a="http://schemas.openxmlformats.org/drawingml/2006/main" w="0">
            <a:solidFill>
              <a:srgbClr val="2E6B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5D49D1-80E0-4BF9-B431-94E328E3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00625"/>
            <a:ext cx="765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抽样审计证据链，并更新 schema 与词汇规则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13CD0B-F3E3-4FD9-B209-35633A4F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7215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0">
            <a:solidFill>
              <a:srgbClr val="E8F0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1C811F-FE5C-4BC0-AB11-655797BA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76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质量指标：注册覆盖率 · 可回溯率 · 高保真占比 · 过期率。不要以节点数量或链接数量为目标。</a:t>
            </a:r>
          </a:p>
        </p:txBody>
      </p:sp>
      <p:cxnSp>
        <p:nvCxnSpPr>
          <p:cNvPr id="75" name=""/>
          <p:cNvCxnSpPr/>
          <p:nvPr/>
        </p:nvCxnSpPr>
        <p:spPr>
          <a:xfrm xmlns:a="http://schemas.openxmlformats.org/drawingml/2006/main">
            <a:off x="514350" y="638175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1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A09ED5-166F-46B4-9F7D-4DBE9A3C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来源：OPERATING_CADENCE v1.0</a:t>
            </a:r>
          </a:p>
        </p:txBody>
      </p:sp>
    </p:spTree>
    <p:extLst>
      <p:ext uri="{BB962C8B-B14F-4D97-AF65-F5344CB8AC3E}">
        <p14:creationId xmlns:p14="http://schemas.microsoft.com/office/powerpoint/2010/main" val="20370750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FE50D8-37CF-4830-BCFC-61AE282C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6B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E6BFF"/>
                </a:solidFill>
                <a:latin typeface="PingFang SC"/>
                <a:ea typeface="PingFang SC"/>
                <a:cs typeface="PingFang SC"/>
              </a:rPr>
              <a:t>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6FF0A-351D-4AA6-8CBE-624CC79A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3DA9F-BDE9-4A89-B092-4457408F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0001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26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下一步不是再写 835 篇摘要，</a:t>
            </a:r>
          </a:p>
          <a:p xmlns:a="http://schemas.openxmlformats.org/drawingml/2006/main">
            <a:pPr algn="l">
              <a:defRPr sz="420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而是把每一次新证据都接入同一条判断链。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584AA-78A0-4665-A26F-7ECE5605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6B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E6BFF"/>
                </a:solidFill>
                <a:latin typeface="PingFang SC"/>
                <a:ea typeface="PingFang SC"/>
                <a:cs typeface="PingFang SC"/>
              </a:rPr>
              <a:t>建议立即生效的三项决定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4A454-259E-49BB-BCA2-A1CE9782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1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BFF"/>
          </a:solidFill>
          <a:ln xmlns:a="http://schemas.openxmlformats.org/drawingml/2006/main" w="0">
            <a:solidFill>
              <a:srgbClr val="2E6B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51C1A-DEAC-4CCE-8038-B0EB30EB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977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注册表成为来源库存的当前权威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6E7DEB-23A5-4A21-8704-D59641BD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977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旧拉取索引保留为历史快照，不再承担全量治理职责。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5C06F-3F0F-4AD7-81A9-64C1FC9B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43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7A0"/>
          </a:solidFill>
          <a:ln xmlns:a="http://schemas.openxmlformats.org/drawingml/2006/main" w="0">
            <a:solidFill>
              <a:srgbClr val="12A7A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9310A4-9ED6-4B28-A9F3-5288DD68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977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所有批量摄取必须绑定 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D645B-DE0E-42DE-98B8-E227B26D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977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先解决问题，再扩大知识资产；避免无目标的摘要生产。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8FCD65-B9CC-46E5-A59E-35368C8F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E92"/>
          </a:solidFill>
          <a:ln xmlns:a="http://schemas.openxmlformats.org/drawingml/2006/main" w="0">
            <a:solidFill>
              <a:srgbClr val="D64E9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086AF4-0848-4A2A-9E1B-E67CCB00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977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32238"/>
                </a:solidFill>
                <a:latin typeface="PingFang SC"/>
                <a:ea typeface="PingFang SC"/>
                <a:cs typeface="PingFang SC"/>
              </a:rPr>
              <a:t>对外产出只从通过门禁的 synthesis 派生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59C72E-74EE-463F-9D38-1D833C08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86450"/>
            <a:ext cx="977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把展示、厂商主张、局部运营和社会采用明确区分。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514350" y="638175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1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9A86E6-339C-47B7-AA70-5429F4EE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8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57080"/>
                </a:solidFill>
                <a:latin typeface="PingFang SC"/>
                <a:ea typeface="PingFang SC"/>
                <a:cs typeface="PingFang SC"/>
              </a:rPr>
              <a:t>结论：从资料库走向证据 Wiki，核心不是更多内容，而是更稳定的判断能力。</a:t>
            </a:r>
          </a:p>
        </p:txBody>
      </p:sp>
    </p:spTree>
    <p:extLst>
      <p:ext uri="{BB962C8B-B14F-4D97-AF65-F5344CB8AC3E}">
        <p14:creationId xmlns:p14="http://schemas.microsoft.com/office/powerpoint/2010/main" val="19502004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2026-07-21T05:06:25.1750000Z</dcterms:created>
  <dcterms:modified xsi:type="dcterms:W3CDTF">2026-07-21T05:06:25.1750000Z</dcterms:modified>
</coreProperties>
</file>