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de6d8f585f4d89" /><Relationship Type="http://schemas.openxmlformats.org/officeDocument/2006/relationships/extended-properties" Target="/docProps/app.xml" Id="R744ad4eb650348b2" /><Relationship Type="http://schemas.openxmlformats.org/officeDocument/2006/relationships/officeDocument" Target="/ppt/presentation.xml" Id="Rd7031c91118b49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b803868b6b47b5"/>
  </p:sldMasterIdLst>
  <p:notesMasterIdLst>
    <p:notesMasterId xmlns:r="http://schemas.openxmlformats.org/officeDocument/2006/relationships" r:id="Ra6b59807ced940f5"/>
  </p:notesMasterIdLst>
  <p:sldIdLst>
    <p:sldId xmlns:r="http://schemas.openxmlformats.org/officeDocument/2006/relationships" id="256" r:id="R8fb581046e6341db"/>
    <p:sldId xmlns:r="http://schemas.openxmlformats.org/officeDocument/2006/relationships" id="257" r:id="Ra6608fa08e75432c"/>
    <p:sldId xmlns:r="http://schemas.openxmlformats.org/officeDocument/2006/relationships" id="258" r:id="Rc839492c662f493f"/>
    <p:sldId xmlns:r="http://schemas.openxmlformats.org/officeDocument/2006/relationships" id="259" r:id="Rcf5f0f67b9684b1d"/>
    <p:sldId xmlns:r="http://schemas.openxmlformats.org/officeDocument/2006/relationships" id="260" r:id="R2fe09420101d4e59"/>
    <p:sldId xmlns:r="http://schemas.openxmlformats.org/officeDocument/2006/relationships" id="261" r:id="R0d13e6c51be54c38"/>
    <p:sldId xmlns:r="http://schemas.openxmlformats.org/officeDocument/2006/relationships" id="262" r:id="R1e0ee18cb75e458f"/>
    <p:sldId xmlns:r="http://schemas.openxmlformats.org/officeDocument/2006/relationships" id="263" r:id="R93a8f197e9904e39"/>
    <p:sldId xmlns:r="http://schemas.openxmlformats.org/officeDocument/2006/relationships" id="264" r:id="Rc7498cd537a14a53"/>
    <p:sldId xmlns:r="http://schemas.openxmlformats.org/officeDocument/2006/relationships" id="265" r:id="R9891ab0811ed4fcb"/>
    <p:sldId xmlns:r="http://schemas.openxmlformats.org/officeDocument/2006/relationships" id="266" r:id="Rd58adcbeb5374f7e"/>
    <p:sldId xmlns:r="http://schemas.openxmlformats.org/officeDocument/2006/relationships" id="267" r:id="R21580ccfd64d41e0"/>
    <p:sldId xmlns:r="http://schemas.openxmlformats.org/officeDocument/2006/relationships" id="268" r:id="Rb5d35a2ff19d45b2"/>
    <p:sldId xmlns:r="http://schemas.openxmlformats.org/officeDocument/2006/relationships" id="269" r:id="R28de613debf14acd"/>
    <p:sldId xmlns:r="http://schemas.openxmlformats.org/officeDocument/2006/relationships" id="270" r:id="Rabad3dd7eafd4c09"/>
    <p:sldId xmlns:r="http://schemas.openxmlformats.org/officeDocument/2006/relationships" id="271" r:id="R4b1f0e71485f4145"/>
    <p:sldId xmlns:r="http://schemas.openxmlformats.org/officeDocument/2006/relationships" id="272" r:id="R002420565064406f"/>
    <p:sldId xmlns:r="http://schemas.openxmlformats.org/officeDocument/2006/relationships" id="273" r:id="Ra02af30a402e4de2"/>
    <p:sldId xmlns:r="http://schemas.openxmlformats.org/officeDocument/2006/relationships" id="274" r:id="R1a1c2f61faef41b8"/>
    <p:sldId xmlns:r="http://schemas.openxmlformats.org/officeDocument/2006/relationships" id="275" r:id="Ra41156fab06a4d2f"/>
    <p:sldId xmlns:r="http://schemas.openxmlformats.org/officeDocument/2006/relationships" id="276" r:id="Ra7ab55581a094da4"/>
    <p:sldId xmlns:r="http://schemas.openxmlformats.org/officeDocument/2006/relationships" id="277" r:id="R0745b11553e742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7e89ff825547a8" /><Relationship Type="http://schemas.openxmlformats.org/officeDocument/2006/relationships/slideMaster" Target="/ppt/slideMasters/slideMaster1.xml" Id="Rfdb803868b6b47b5" /><Relationship Type="http://schemas.openxmlformats.org/officeDocument/2006/relationships/notesMaster" Target="/ppt/notesMasters/notesMaster1.xml" Id="Ra6b59807ced940f5" /><Relationship Type="http://schemas.openxmlformats.org/officeDocument/2006/relationships/presProps" Target="/ppt/presProps.xml" Id="Rd37311689f3d4bfd" /><Relationship Type="http://schemas.openxmlformats.org/officeDocument/2006/relationships/tableStyles" Target="/ppt/tableStyles.xml" Id="Rc3498865b3f14d81" /><Relationship Type="http://schemas.openxmlformats.org/officeDocument/2006/relationships/slide" Target="/ppt/slides/slide1.xml" Id="R8fb581046e6341db" /><Relationship Type="http://schemas.openxmlformats.org/officeDocument/2006/relationships/slide" Target="/ppt/slides/slide2.xml" Id="Ra6608fa08e75432c" /><Relationship Type="http://schemas.openxmlformats.org/officeDocument/2006/relationships/slide" Target="/ppt/slides/slide3.xml" Id="Rc839492c662f493f" /><Relationship Type="http://schemas.openxmlformats.org/officeDocument/2006/relationships/slide" Target="/ppt/slides/slide4.xml" Id="Rcf5f0f67b9684b1d" /><Relationship Type="http://schemas.openxmlformats.org/officeDocument/2006/relationships/slide" Target="/ppt/slides/slide5.xml" Id="R2fe09420101d4e59" /><Relationship Type="http://schemas.openxmlformats.org/officeDocument/2006/relationships/slide" Target="/ppt/slides/slide6.xml" Id="R0d13e6c51be54c38" /><Relationship Type="http://schemas.openxmlformats.org/officeDocument/2006/relationships/slide" Target="/ppt/slides/slide7.xml" Id="R1e0ee18cb75e458f" /><Relationship Type="http://schemas.openxmlformats.org/officeDocument/2006/relationships/slide" Target="/ppt/slides/slide8.xml" Id="R93a8f197e9904e39" /><Relationship Type="http://schemas.openxmlformats.org/officeDocument/2006/relationships/slide" Target="/ppt/slides/slide9.xml" Id="Rc7498cd537a14a53" /><Relationship Type="http://schemas.openxmlformats.org/officeDocument/2006/relationships/slide" Target="/ppt/slides/slide10.xml" Id="R9891ab0811ed4fcb" /><Relationship Type="http://schemas.openxmlformats.org/officeDocument/2006/relationships/slide" Target="/ppt/slides/slide11.xml" Id="Rd58adcbeb5374f7e" /><Relationship Type="http://schemas.openxmlformats.org/officeDocument/2006/relationships/slide" Target="/ppt/slides/slide12.xml" Id="R21580ccfd64d41e0" /><Relationship Type="http://schemas.openxmlformats.org/officeDocument/2006/relationships/slide" Target="/ppt/slides/slide13.xml" Id="Rb5d35a2ff19d45b2" /><Relationship Type="http://schemas.openxmlformats.org/officeDocument/2006/relationships/slide" Target="/ppt/slides/slide14.xml" Id="R28de613debf14acd" /><Relationship Type="http://schemas.openxmlformats.org/officeDocument/2006/relationships/slide" Target="/ppt/slides/slide15.xml" Id="Rabad3dd7eafd4c09" /><Relationship Type="http://schemas.openxmlformats.org/officeDocument/2006/relationships/slide" Target="/ppt/slides/slide16.xml" Id="R4b1f0e71485f4145" /><Relationship Type="http://schemas.openxmlformats.org/officeDocument/2006/relationships/slide" Target="/ppt/slides/slide17.xml" Id="R002420565064406f" /><Relationship Type="http://schemas.openxmlformats.org/officeDocument/2006/relationships/slide" Target="/ppt/slides/slide18.xml" Id="Ra02af30a402e4de2" /><Relationship Type="http://schemas.openxmlformats.org/officeDocument/2006/relationships/slide" Target="/ppt/slides/slide19.xml" Id="R1a1c2f61faef41b8" /><Relationship Type="http://schemas.openxmlformats.org/officeDocument/2006/relationships/slide" Target="/ppt/slides/slide20.xml" Id="Ra41156fab06a4d2f" /><Relationship Type="http://schemas.openxmlformats.org/officeDocument/2006/relationships/slide" Target="/ppt/slides/slide21.xml" Id="Ra7ab55581a094da4" /><Relationship Type="http://schemas.openxmlformats.org/officeDocument/2006/relationships/slide" Target="/ppt/slides/slide22.xml" Id="R0745b11553e742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b1e4dfabcf4a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109e70c6034bce" /><Relationship Type="http://schemas.openxmlformats.org/officeDocument/2006/relationships/notesMaster" Target="/ppt/notesMasters/notesMaster1.xml" Id="R0f19c8c6706d49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5fba3975104447" /><Relationship Type="http://schemas.openxmlformats.org/officeDocument/2006/relationships/notesMaster" Target="/ppt/notesMasters/notesMaster1.xml" Id="Rde20557724284f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0571e84f2d4b5d" /><Relationship Type="http://schemas.openxmlformats.org/officeDocument/2006/relationships/notesMaster" Target="/ppt/notesMasters/notesMaster1.xml" Id="R831c742fd42143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ce84361fc64eea" /><Relationship Type="http://schemas.openxmlformats.org/officeDocument/2006/relationships/notesMaster" Target="/ppt/notesMasters/notesMaster1.xml" Id="R88624415029644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6182a09cdd4853" /><Relationship Type="http://schemas.openxmlformats.org/officeDocument/2006/relationships/notesMaster" Target="/ppt/notesMasters/notesMaster1.xml" Id="R1479e0071cd645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8a063e09ec4263" /><Relationship Type="http://schemas.openxmlformats.org/officeDocument/2006/relationships/notesMaster" Target="/ppt/notesMasters/notesMaster1.xml" Id="R69a76aa34bdc4d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7e50ca52d34d2f" /><Relationship Type="http://schemas.openxmlformats.org/officeDocument/2006/relationships/notesMaster" Target="/ppt/notesMasters/notesMaster1.xml" Id="R4d0cb97338e44c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9c908a5beb4dbc" /><Relationship Type="http://schemas.openxmlformats.org/officeDocument/2006/relationships/notesMaster" Target="/ppt/notesMasters/notesMaster1.xml" Id="R91370208aba640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4945b613f34e31" /><Relationship Type="http://schemas.openxmlformats.org/officeDocument/2006/relationships/notesMaster" Target="/ppt/notesMasters/notesMaster1.xml" Id="Rdf91ad5a218545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c3ccad0c5d4e73" /><Relationship Type="http://schemas.openxmlformats.org/officeDocument/2006/relationships/notesMaster" Target="/ppt/notesMasters/notesMaster1.xml" Id="Rf818c75ad5fc44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5a259e7e084ec7" /><Relationship Type="http://schemas.openxmlformats.org/officeDocument/2006/relationships/notesMaster" Target="/ppt/notesMasters/notesMaster1.xml" Id="R55685e1fcb5e46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97d4087456493d" /><Relationship Type="http://schemas.openxmlformats.org/officeDocument/2006/relationships/notesMaster" Target="/ppt/notesMasters/notesMaster1.xml" Id="Rd6af31cde5bf40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885451a4644814" /><Relationship Type="http://schemas.openxmlformats.org/officeDocument/2006/relationships/notesMaster" Target="/ppt/notesMasters/notesMaster1.xml" Id="R2f5fae72f41344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2bb6b7c5554754" /><Relationship Type="http://schemas.openxmlformats.org/officeDocument/2006/relationships/notesMaster" Target="/ppt/notesMasters/notesMaster1.xml" Id="R50d57a2cc32a46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7450624bf4499c" /><Relationship Type="http://schemas.openxmlformats.org/officeDocument/2006/relationships/notesMaster" Target="/ppt/notesMasters/notesMaster1.xml" Id="R268ad5b5544b4d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8f40d9dd0943bd" /><Relationship Type="http://schemas.openxmlformats.org/officeDocument/2006/relationships/notesMaster" Target="/ppt/notesMasters/notesMaster1.xml" Id="R29a95c5b512649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02582da2df4185" /><Relationship Type="http://schemas.openxmlformats.org/officeDocument/2006/relationships/notesMaster" Target="/ppt/notesMasters/notesMaster1.xml" Id="R7c7b8ee5536a4f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d516054c424f75" /><Relationship Type="http://schemas.openxmlformats.org/officeDocument/2006/relationships/notesMaster" Target="/ppt/notesMasters/notesMaster1.xml" Id="R4b04941552714a9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28aa39adf247c3" /><Relationship Type="http://schemas.openxmlformats.org/officeDocument/2006/relationships/notesMaster" Target="/ppt/notesMasters/notesMaster1.xml" Id="Rda78e594e0af4d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93cc5db9bb4fee" /><Relationship Type="http://schemas.openxmlformats.org/officeDocument/2006/relationships/notesMaster" Target="/ppt/notesMasters/notesMaster1.xml" Id="R3e116d11e2bd450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2625d2b4e9f40c3" /><Relationship Type="http://schemas.openxmlformats.org/officeDocument/2006/relationships/notesMaster" Target="/ppt/notesMasters/notesMaster1.xml" Id="R01a136a6f8d541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43a380580044cc" /><Relationship Type="http://schemas.openxmlformats.org/officeDocument/2006/relationships/notesMaster" Target="/ppt/notesMasters/notesMaster1.xml" Id="R0f8108f67fe14f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9888e6d9d4a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219e9f5f944c8e" /><Relationship Type="http://schemas.openxmlformats.org/officeDocument/2006/relationships/slideLayout" Target="/ppt/slideLayouts/slideLayout1.xml" Id="R45994ef064684f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994ef064684f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3335d4c214bb9" /><Relationship Type="http://schemas.openxmlformats.org/officeDocument/2006/relationships/notesSlide" Target="/ppt/notesSlides/notesSlide1.xml" Id="R981cfcf358414d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5bd03a7714b1d" /><Relationship Type="http://schemas.openxmlformats.org/officeDocument/2006/relationships/notesSlide" Target="/ppt/notesSlides/notesSlide2.xml" Id="R4142b05e18e042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bdd3932c74a26" /><Relationship Type="http://schemas.openxmlformats.org/officeDocument/2006/relationships/notesSlide" Target="/ppt/notesSlides/notesSlide3.xml" Id="R54a1b7909c5540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105cf33e04297" /><Relationship Type="http://schemas.openxmlformats.org/officeDocument/2006/relationships/image" Target="/ppt/media/image.png" Id="Rffade6d945454a2a" /><Relationship Type="http://schemas.openxmlformats.org/officeDocument/2006/relationships/notesSlide" Target="/ppt/notesSlides/notesSlide4.xml" Id="R19bbd68c0c704f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57eee3a41427b" /><Relationship Type="http://schemas.openxmlformats.org/officeDocument/2006/relationships/image" Target="/ppt/media/image2.png" Id="R56dbd7cbf5fd46d4" /><Relationship Type="http://schemas.openxmlformats.org/officeDocument/2006/relationships/notesSlide" Target="/ppt/notesSlides/notesSlide5.xml" Id="Ra97bf389e5af47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a572720dd449c" /><Relationship Type="http://schemas.openxmlformats.org/officeDocument/2006/relationships/notesSlide" Target="/ppt/notesSlides/notesSlide6.xml" Id="Rb1662982b95746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12353f76641fa" /><Relationship Type="http://schemas.openxmlformats.org/officeDocument/2006/relationships/image" Target="/ppt/media/image3.png" Id="R129e0d9a86ba440c" /><Relationship Type="http://schemas.openxmlformats.org/officeDocument/2006/relationships/notesSlide" Target="/ppt/notesSlides/notesSlide7.xml" Id="R35508ce4c4964c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d9827296e45c2" /><Relationship Type="http://schemas.openxmlformats.org/officeDocument/2006/relationships/image" Target="/ppt/media/image4.png" Id="Rd2baa76554b047d1" /><Relationship Type="http://schemas.openxmlformats.org/officeDocument/2006/relationships/notesSlide" Target="/ppt/notesSlides/notesSlide8.xml" Id="R07603e604dcf4c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3d0d0e6234452" /><Relationship Type="http://schemas.openxmlformats.org/officeDocument/2006/relationships/notesSlide" Target="/ppt/notesSlides/notesSlide9.xml" Id="Rf71dcf63c62249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1e5fe624d4a47" /><Relationship Type="http://schemas.openxmlformats.org/officeDocument/2006/relationships/image" Target="/ppt/media/image5.png" Id="Rba42a230f7df4e2a" /><Relationship Type="http://schemas.openxmlformats.org/officeDocument/2006/relationships/notesSlide" Target="/ppt/notesSlides/notesSlide10.xml" Id="Ra660f96ff27647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5fc18cd154e62" /><Relationship Type="http://schemas.openxmlformats.org/officeDocument/2006/relationships/notesSlide" Target="/ppt/notesSlides/notesSlide11.xml" Id="R663c7a65bdee4c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0ca8efc644029" /><Relationship Type="http://schemas.openxmlformats.org/officeDocument/2006/relationships/notesSlide" Target="/ppt/notesSlides/notesSlide12.xml" Id="Ra5ff3bad54c744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aad77f5ae4bfd" /><Relationship Type="http://schemas.openxmlformats.org/officeDocument/2006/relationships/image" Target="/ppt/media/image6.png" Id="Rcef147103efc49af" /><Relationship Type="http://schemas.openxmlformats.org/officeDocument/2006/relationships/notesSlide" Target="/ppt/notesSlides/notesSlide13.xml" Id="Rd29d54efc4fd47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bf3ef65ee48b8" /><Relationship Type="http://schemas.openxmlformats.org/officeDocument/2006/relationships/notesSlide" Target="/ppt/notesSlides/notesSlide14.xml" Id="R74ebcc949a204d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9ec0b66c44135" /><Relationship Type="http://schemas.openxmlformats.org/officeDocument/2006/relationships/image" Target="/ppt/media/image7.png" Id="R47a6d2c1bedc4648" /><Relationship Type="http://schemas.openxmlformats.org/officeDocument/2006/relationships/notesSlide" Target="/ppt/notesSlides/notesSlide15.xml" Id="Rd715828b59f045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256076c3c4b14" /><Relationship Type="http://schemas.openxmlformats.org/officeDocument/2006/relationships/notesSlide" Target="/ppt/notesSlides/notesSlide16.xml" Id="R1c4161d441844f5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2c4b67da74cb7" /><Relationship Type="http://schemas.openxmlformats.org/officeDocument/2006/relationships/notesSlide" Target="/ppt/notesSlides/notesSlide17.xml" Id="R47d9df1d388042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c4cdd80954c9b" /><Relationship Type="http://schemas.openxmlformats.org/officeDocument/2006/relationships/image" Target="/ppt/media/image8.png" Id="Rf6e5d53eb57a428d" /><Relationship Type="http://schemas.openxmlformats.org/officeDocument/2006/relationships/notesSlide" Target="/ppt/notesSlides/notesSlide18.xml" Id="R442517e39e2f49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4461a265f48d6" /><Relationship Type="http://schemas.openxmlformats.org/officeDocument/2006/relationships/notesSlide" Target="/ppt/notesSlides/notesSlide19.xml" Id="R584ad8d9834845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6afa553804a45" /><Relationship Type="http://schemas.openxmlformats.org/officeDocument/2006/relationships/notesSlide" Target="/ppt/notesSlides/notesSlide20.xml" Id="R44d7bbf32fb24b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1aa91d14c42b2" /><Relationship Type="http://schemas.openxmlformats.org/officeDocument/2006/relationships/notesSlide" Target="/ppt/notesSlides/notesSlide21.xml" Id="Rd2a36f0873b549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609ae530048ea" /><Relationship Type="http://schemas.openxmlformats.org/officeDocument/2006/relationships/notesSlide" Target="/ppt/notesSlides/notesSlide22.xml" Id="Rd263150132094a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0D4DA-B297-4E0A-B07A-272623B0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F90D0-6E6B-4DAC-9E24-37A47D59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D1C7"/>
                </a:solidFill>
              </a:defRPr>
            </a:pPr>
            <a:r>
              <a:rPr sz="1125" b="1">
                <a:solidFill>
                  <a:srgbClr val="56D1C7"/>
                </a:solidFill>
              </a:rPr>
              <a:t>WAIC 2018-2026 · STRATEGIC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44A0A-3686-4938-8FE6-B3FB8F6A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09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从“看见 AI”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到“把任务交给 AI”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3B779-1825-4532-8D2C-2F9F06F8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5E0E4"/>
                </a:solidFill>
              </a:defRPr>
            </a:pPr>
            <a:r>
              <a:rPr sz="1800" b="0">
                <a:solidFill>
                  <a:srgbClr val="D5E0E4"/>
                </a:solidFill>
              </a:rPr>
              <a:t>演进路线 · 应用场景 · 普通人 · 岗位 · 治理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FEA23-71D9-4419-9276-2664E15A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6FFBC-BE01-49FB-B480-EBC3E50F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C6"/>
                </a:solidFill>
              </a:defRPr>
            </a:pPr>
            <a:r>
              <a:rPr sz="1275" b="0">
                <a:solidFill>
                  <a:srgbClr val="AFC0C6"/>
                </a:solidFill>
              </a:rPr>
              <a:t>基于 835 份唯一 raw 笔记、完整逐字稿与官方政策资料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1B4CE-8C82-476F-AEFE-BE365535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00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E949D"/>
                </a:solidFill>
              </a:defRPr>
            </a:pPr>
            <a:r>
              <a:rPr sz="1200" b="0">
                <a:solidFill>
                  <a:srgbClr val="7E949D"/>
                </a:solidFill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570118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A7891-3CC4-49A2-8405-9D0A6EAF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D1C7"/>
                </a:solidFill>
              </a:defRPr>
            </a:pPr>
            <a:r>
              <a:rPr sz="1125" b="1">
                <a:solidFill>
                  <a:srgbClr val="56D1C7"/>
                </a:solidFill>
              </a:rPr>
              <a:t>核心结论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BA713-D1FD-431A-A50D-FAE293F7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九年真正改变的，是 AI 的责任半径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E5A52-8377-49A2-802E-875EDEFB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E0E4"/>
                </a:solidFill>
              </a:defRPr>
            </a:pPr>
            <a:r>
              <a:rPr sz="1650" b="0">
                <a:solidFill>
                  <a:srgbClr val="D5E0E4"/>
                </a:solidFill>
              </a:rPr>
              <a:t>能力越接近任务结果，价值越大；权限、责任和救济也必须同步升级。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58708-87F7-4065-956D-29F660EA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866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26164-9D98-45FC-BFBC-465393B1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D6CC"/>
                </a:solidFill>
              </a:defRPr>
            </a:pPr>
            <a:r>
              <a:rPr sz="2175" b="1">
                <a:solidFill>
                  <a:srgbClr val="5ED6CC"/>
                </a:solidFill>
              </a:rPr>
              <a:t>识别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6A2DE-9DAD-498D-BC13-A44DB3CE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F8356-B64C-4A04-9C36-24378C79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F949C"/>
                </a:solidFill>
              </a:defRPr>
            </a:pPr>
            <a:r>
              <a:rPr sz="2550" b="1">
                <a:solidFill>
                  <a:srgbClr val="7F949C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6FBA9-53C0-45DB-BCE9-E2339462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90850"/>
            <a:ext cx="1866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9329C-8BE3-4882-98ED-3BE64E77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19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D6CC"/>
                </a:solidFill>
              </a:defRPr>
            </a:pPr>
            <a:r>
              <a:rPr sz="2175" b="1">
                <a:solidFill>
                  <a:srgbClr val="5ED6CC"/>
                </a:solidFill>
              </a:rPr>
              <a:t>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F9498-3426-434F-9D61-6381DA75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成品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B9F6F-0205-4940-885D-B84F05E0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F949C"/>
                </a:solidFill>
              </a:defRPr>
            </a:pPr>
            <a:r>
              <a:rPr sz="2550" b="1">
                <a:solidFill>
                  <a:srgbClr val="7F949C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65BEB-C173-4F4C-A05D-67B6CBD4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90850"/>
            <a:ext cx="1866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05F92-0855-4006-90CB-FA499040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D6CC"/>
                </a:solidFill>
              </a:defRPr>
            </a:pPr>
            <a:r>
              <a:rPr sz="2175" b="1">
                <a:solidFill>
                  <a:srgbClr val="5ED6CC"/>
                </a:solidFill>
              </a:rPr>
              <a:t>调用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1DB85-05F6-415E-8079-424F14EF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8430B-60BC-48A6-AE9F-4FD4E468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F949C"/>
                </a:solidFill>
              </a:defRPr>
            </a:pPr>
            <a:r>
              <a:rPr sz="2550" b="1">
                <a:solidFill>
                  <a:srgbClr val="7F949C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E2E84-2385-4FDA-A4DC-EB052F1F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1866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7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D43E3-5E87-4063-BEC9-3304035F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19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ED6CC"/>
                </a:solidFill>
              </a:defRPr>
            </a:pPr>
            <a:r>
              <a:rPr sz="2175" b="1">
                <a:solidFill>
                  <a:srgbClr val="5ED6CC"/>
                </a:solidFill>
              </a:rPr>
              <a:t>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D3D01D-B9AD-48C9-BA7F-6A15624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38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0202F-DB4A-40FC-BBB9-FC99ED46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7F949C"/>
                </a:solidFill>
              </a:defRPr>
            </a:pPr>
            <a:r>
              <a:rPr sz="2550" b="1">
                <a:solidFill>
                  <a:srgbClr val="7F949C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501A5-9562-4262-BEDA-30294A7A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1866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035CD-5274-4655-BF1E-83BF0ED5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19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8B76"/>
                </a:solidFill>
              </a:defRPr>
            </a:pPr>
            <a:r>
              <a:rPr sz="2175" b="1">
                <a:solidFill>
                  <a:srgbClr val="FF8B76"/>
                </a:solidFill>
              </a:rPr>
              <a:t>进入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FC2D4-ECCB-4BE0-B831-BCD2C01D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家庭与身体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7963A-949A-4736-AA63-4B42AE72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ECEE"/>
                </a:solidFill>
              </a:defRPr>
            </a:pPr>
            <a:r>
              <a:rPr sz="1575" b="1">
                <a:solidFill>
                  <a:srgbClr val="E5ECEE"/>
                </a:solidFill>
              </a:rPr>
              <a:t>判断标准不再是“看起来聪明”，而是：能否持续交付、失败时谁接管、损害如何救济。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1DD487-C9EE-4147-AFDE-6D306BE8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2A9"/>
                </a:solidFill>
              </a:defRPr>
            </a:pPr>
            <a:r>
              <a:rPr sz="750" b="0">
                <a:solidFill>
                  <a:srgbClr val="8FA2A9"/>
                </a:solidFill>
              </a:rPr>
              <a:t>仓库全样本综合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A13DC-470B-4833-B1EF-831E55AA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2A9"/>
                </a:solidFill>
              </a:defRPr>
            </a:pPr>
            <a:r>
              <a:rPr sz="750" b="0">
                <a:solidFill>
                  <a:srgbClr val="8FA2A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91367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F8C44-A2CA-41E2-9727-F607E5B2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4BB5E-586F-43EB-9439-B9ABEC37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B86"/>
                </a:solidFill>
              </a:defRPr>
            </a:pPr>
            <a:r>
              <a:rPr sz="900" b="1">
                <a:solidFill>
                  <a:srgbClr val="008B86"/>
                </a:solidFill>
              </a:rPr>
              <a:t>研究设计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C505B-4FEE-4643-911A-4DBBE5DD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B1C96-D0F6-4CA3-B604-B48E192F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WAIC 2018-2026 战略研究 · 供给侧窗口，不等同社会平均采用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0797C-B2F2-43F9-8F42-AAD09AC5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2BB7E-06B9-453C-A645-FA5B78AE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12A"/>
                </a:solidFill>
              </a:defRPr>
            </a:pPr>
            <a:r>
              <a:rPr sz="3000" b="1">
                <a:solidFill>
                  <a:srgbClr val="13212A"/>
                </a:solidFill>
              </a:rPr>
              <a:t>全样本让趋势可见，也要求更严格地区分证据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77A7F-0D70-4F4A-AF67-947EFC97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8B86"/>
                </a:solidFill>
              </a:defRPr>
            </a:pPr>
            <a:r>
              <a:rPr sz="4050" b="1">
                <a:solidFill>
                  <a:srgbClr val="008B86"/>
                </a:solidFill>
              </a:rPr>
              <a:t>887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41F28-77CA-42C0-9920-94401F15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2A"/>
                </a:solidFill>
              </a:defRPr>
            </a:pPr>
            <a:r>
              <a:rPr sz="1650" b="1">
                <a:solidFill>
                  <a:srgbClr val="13212A"/>
                </a:solidFill>
              </a:rPr>
              <a:t>Markdown 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B63A1-F5E9-4243-A816-C487673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除 4-outputs 外的全库扫描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79BCF-F8EA-43D3-92BD-F5658269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D6F93"/>
                </a:solidFill>
              </a:defRPr>
            </a:pPr>
            <a:r>
              <a:rPr sz="4050" b="1">
                <a:solidFill>
                  <a:srgbClr val="2D6F93"/>
                </a:solidFill>
              </a:rPr>
              <a:t>835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68FFC-A935-4474-B68F-AFFBB17E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2A"/>
                </a:solidFill>
              </a:defRPr>
            </a:pPr>
            <a:r>
              <a:rPr sz="1650" b="1">
                <a:solidFill>
                  <a:srgbClr val="13212A"/>
                </a:solidFill>
              </a:rPr>
              <a:t>唯一 raw 笔记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B9B93-1960-4C0E-80FA-6ED5A809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年度统计的唯一分母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0974F-F8D9-4C47-8764-0AC40221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0644B"/>
                </a:solidFill>
              </a:defRPr>
            </a:pPr>
            <a:r>
              <a:rPr sz="4050" b="1">
                <a:solidFill>
                  <a:srgbClr val="F0644B"/>
                </a:solidFill>
              </a:rPr>
              <a:t>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F3564-022A-4CDA-8A7F-C743845E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2A"/>
                </a:solidFill>
              </a:defRPr>
            </a:pPr>
            <a:r>
              <a:rPr sz="1650" b="1">
                <a:solidFill>
                  <a:srgbClr val="13212A"/>
                </a:solidFill>
              </a:rPr>
              <a:t>重复 note_id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357C0-706A-4C73-A6F3-9A9E1CF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2-data 与 raw 重合，不重复计数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46400-7B6C-467A-B9AE-3FEDF65C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23241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A0B88-42E0-4A78-B44B-2348BF59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0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样本偏差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D3383-5B2F-4395-95FE-4B76437D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003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E0E4"/>
                </a:solidFill>
              </a:defRPr>
            </a:pPr>
            <a:r>
              <a:rPr sz="1275" b="0">
                <a:solidFill>
                  <a:srgbClr val="D5E0E4"/>
                </a:solidFill>
              </a:rPr>
              <a:t>回溯摄取</a:t>
            </a:r>
          </a:p>
          <a:p xmlns:a="http://schemas.openxmlformats.org/drawingml/2006/main">
            <a:pPr algn="l">
              <a:defRPr sz="1275" b="0">
                <a:solidFill>
                  <a:srgbClr val="D5E0E4"/>
                </a:solidFill>
              </a:defRPr>
            </a:pPr>
            <a:r>
              <a:rPr sz="1275" b="0">
                <a:solidFill>
                  <a:srgbClr val="D5E0E4"/>
                </a:solidFill>
              </a:rPr>
              <a:t>年度密度不均</a:t>
            </a:r>
          </a:p>
          <a:p xmlns:a="http://schemas.openxmlformats.org/drawingml/2006/main">
            <a:pPr algn="l">
              <a:defRPr sz="1275" b="0">
                <a:solidFill>
                  <a:srgbClr val="D5E0E4"/>
                </a:solidFill>
              </a:defRPr>
            </a:pPr>
            <a:r>
              <a:rPr sz="1275" b="0">
                <a:solidFill>
                  <a:srgbClr val="D5E0E4"/>
                </a:solidFill>
              </a:rPr>
              <a:t>供给侧选择</a:t>
            </a:r>
          </a:p>
          <a:p xmlns:a="http://schemas.openxmlformats.org/drawingml/2006/main">
            <a:pPr algn="l">
              <a:defRPr sz="1275" b="0">
                <a:solidFill>
                  <a:srgbClr val="D5E0E4"/>
                </a:solidFill>
              </a:defRPr>
            </a:pPr>
            <a:r>
              <a:rPr sz="1275" b="0">
                <a:solidFill>
                  <a:srgbClr val="D5E0E4"/>
                </a:solidFill>
              </a:rPr>
              <a:t>加工条目误并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72E12-1A0F-44F7-8E3E-D0CD0D12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28D1A-3D44-40EC-A80B-643C4EE6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F6B"/>
                </a:solidFill>
              </a:defRPr>
            </a:pPr>
            <a:r>
              <a:rPr sz="1875" b="1">
                <a:solidFill>
                  <a:srgbClr val="006F6B"/>
                </a:solidFill>
              </a:rPr>
              <a:t>证据原则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F1DCA-5138-449E-9D84-1F282F6C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57650"/>
            <a:ext cx="866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12A"/>
                </a:solidFill>
              </a:defRPr>
            </a:pPr>
            <a:r>
              <a:rPr sz="1500" b="0">
                <a:solidFill>
                  <a:srgbClr val="13212A"/>
                </a:solidFill>
              </a:rPr>
              <a:t>大会展示只能证明“能力可见”；签约只能证明合作意图；厂商销量仍需核验留存、复购和真实用途。医疗、教育、招聘、驾驶等高风险场景还需要独立效果与安全评估。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7D976-C1FF-4CCF-A5DB-1623E4DA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来源：仓库全量审计；835 个唯一 note_id。</a:t>
            </a:r>
          </a:p>
        </p:txBody>
      </p:sp>
    </p:spTree>
    <p:extLst>
      <p:ext uri="{BB962C8B-B14F-4D97-AF65-F5344CB8AC3E}">
        <p14:creationId xmlns:p14="http://schemas.microsoft.com/office/powerpoint/2010/main" val="953461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de6d945454a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C0115-D755-459A-9DB2-F75B4C71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198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CBE1B-76F5-4CA0-9BD0-FDF6B8A7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579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2405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bd7cbf5fd46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98B65-6A23-4F3E-BDC2-FDDD59C8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198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E0421-244D-465A-8629-766617A7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579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8384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351B07-5BAA-43BE-8432-B4A26903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BFA8A-A2A2-4868-87C6-5DCF8389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B86"/>
                </a:solidFill>
              </a:defRPr>
            </a:pPr>
            <a:r>
              <a:rPr sz="900" b="1">
                <a:solidFill>
                  <a:srgbClr val="008B86"/>
                </a:solidFill>
              </a:rPr>
              <a:t>演进路线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9B989-5EC7-4C1A-ADDE-4DCB4E48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E484A-B36E-4DD2-94A6-580A7A9D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WAIC 2018-2026 战略研究 · 供给侧窗口，不等同社会平均采用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5CBC7-95E9-4016-83A5-31C7CAA3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CFD9B-1701-408F-8C80-6061692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12A"/>
                </a:solidFill>
              </a:defRPr>
            </a:pPr>
            <a:r>
              <a:rPr sz="3000" b="1">
                <a:solidFill>
                  <a:srgbClr val="13212A"/>
                </a:solidFill>
              </a:rPr>
              <a:t>三个断点，分别重写了界面、生产方式和竞争对象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B403B-B1F5-4B5E-84E5-12571A4F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7C"/>
                </a:solidFill>
              </a:defRPr>
            </a:pPr>
            <a:r>
              <a:rPr sz="1350" b="0">
                <a:solidFill>
                  <a:srgbClr val="61737C"/>
                </a:solidFill>
              </a:rPr>
              <a:t>标题信号只用于识别议题迁移，不代表市场份额或同比增速。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E37E5-6B8B-44D9-9C85-861BD5F6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A2098-D3DB-4618-9582-A992091F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C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5F8F3-C98C-41FF-870E-616CDE70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65CA6"/>
                </a:solidFill>
              </a:defRPr>
            </a:pPr>
            <a:r>
              <a:rPr sz="1875" b="1">
                <a:solidFill>
                  <a:srgbClr val="765CA6"/>
                </a:solidFill>
              </a:rPr>
              <a:t>2022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E4199-7E7F-41AD-932E-A5B87EC9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3212A"/>
                </a:solidFill>
              </a:defRPr>
            </a:pPr>
            <a:r>
              <a:rPr sz="3525" b="1">
                <a:solidFill>
                  <a:srgbClr val="13212A"/>
                </a:solidFill>
              </a:rPr>
              <a:t>12 / 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F6B2E-4483-4235-BD64-A059D51E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7C"/>
                </a:solidFill>
              </a:defRPr>
            </a:pPr>
            <a:r>
              <a:rPr sz="1050" b="0">
                <a:solidFill>
                  <a:srgbClr val="61737C"/>
                </a:solidFill>
              </a:rPr>
              <a:t>年度标题信号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1F633-AE33-4078-9F15-0897AABC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2A"/>
                </a:solidFill>
              </a:defRPr>
            </a:pPr>
            <a:r>
              <a:rPr sz="1875" b="1">
                <a:solidFill>
                  <a:srgbClr val="13212A"/>
                </a:solidFill>
              </a:rPr>
              <a:t>元宇宙成为界面假设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EEF3F-461A-453A-8C4E-ACA9C53F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87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7C"/>
                </a:solidFill>
              </a:defRPr>
            </a:pPr>
            <a:r>
              <a:rPr sz="1275" b="0">
                <a:solidFill>
                  <a:srgbClr val="61737C"/>
                </a:solidFill>
              </a:rPr>
              <a:t>沉浸空间短暂占据注意力，随后被自然语言入口挤出中心。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153B1-21C7-4865-8A20-4D949B79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333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AA307-77F6-427B-A3BE-66E52621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EB288-1492-47E6-BD54-2A072F08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6F93"/>
                </a:solidFill>
              </a:defRPr>
            </a:pPr>
            <a:r>
              <a:rPr sz="1875" b="1">
                <a:solidFill>
                  <a:srgbClr val="2D6F93"/>
                </a:solidFill>
              </a:rPr>
              <a:t>2023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2392D-221F-4CC0-A9BE-00C64C62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3212A"/>
                </a:solidFill>
              </a:defRPr>
            </a:pPr>
            <a:r>
              <a:rPr sz="3525" b="1">
                <a:solidFill>
                  <a:srgbClr val="13212A"/>
                </a:solidFill>
              </a:rPr>
              <a:t>18 / 55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D68E2-14F9-4F42-B2F7-95D0AF63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7C"/>
                </a:solidFill>
              </a:defRPr>
            </a:pPr>
            <a:r>
              <a:rPr sz="1050" b="0">
                <a:solidFill>
                  <a:srgbClr val="61737C"/>
                </a:solidFill>
              </a:rPr>
              <a:t>年度标题信号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0B20C-8ACB-481E-86AF-99D1D330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576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2A"/>
                </a:solidFill>
              </a:defRPr>
            </a:pPr>
            <a:r>
              <a:rPr sz="1875" b="1">
                <a:solidFill>
                  <a:srgbClr val="13212A"/>
                </a:solidFill>
              </a:rPr>
              <a:t>自然语言成为新入口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B3F38-E485-4DA6-967F-4225E262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87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7C"/>
                </a:solidFill>
              </a:defRPr>
            </a:pPr>
            <a:r>
              <a:rPr sz="1275" b="0">
                <a:solidFill>
                  <a:srgbClr val="61737C"/>
                </a:solidFill>
              </a:rPr>
              <a:t>大模型把交互从“学菜单”改成“说意图”，AI 开始直接生成成品。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E0D6E-A90D-4009-AD3A-9DBD2F7E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62150"/>
            <a:ext cx="3333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D9669-2A94-4D8C-93ED-FBE3DCA7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621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CA845-26E0-4185-9F1F-97C3E0F0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644B"/>
                </a:solidFill>
              </a:defRPr>
            </a:pPr>
            <a:r>
              <a:rPr sz="1875" b="1">
                <a:solidFill>
                  <a:srgbClr val="F0644B"/>
                </a:solidFill>
              </a:rPr>
              <a:t>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02CE69-5636-4235-AF7E-377D52F0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3212A"/>
                </a:solidFill>
              </a:defRPr>
            </a:pPr>
            <a:r>
              <a:rPr sz="3525" b="1">
                <a:solidFill>
                  <a:srgbClr val="13212A"/>
                </a:solidFill>
              </a:rPr>
              <a:t>37 / 355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B2515-611C-4B2B-9466-87E67ACE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7C"/>
                </a:solidFill>
              </a:defRPr>
            </a:pPr>
            <a:r>
              <a:rPr sz="1050" b="0">
                <a:solidFill>
                  <a:srgbClr val="61737C"/>
                </a:solidFill>
              </a:rPr>
              <a:t>年度标题信号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E762A8-1FF5-458C-B7DC-B93ECEC6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2A"/>
                </a:solidFill>
              </a:defRPr>
            </a:pPr>
            <a:r>
              <a:rPr sz="1875" b="1">
                <a:solidFill>
                  <a:srgbClr val="13212A"/>
                </a:solidFill>
              </a:rPr>
              <a:t>竞争转向任务闭环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2B48D6-C4EF-4E66-9860-4DF0BAFB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287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7C"/>
                </a:solidFill>
              </a:defRPr>
            </a:pPr>
            <a:r>
              <a:rPr sz="1275" b="0">
                <a:solidFill>
                  <a:srgbClr val="61737C"/>
                </a:solidFill>
              </a:rPr>
              <a:t>Agent、工具、记忆、执行和具身被放进同一条能力供应链。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CA853B-3D33-4CC3-8A38-C118345A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来源：年度 raw 标题扫描；2025/2026 样本密度显著更高，不做跨年绝对词频比较。</a:t>
            </a:r>
          </a:p>
        </p:txBody>
      </p:sp>
    </p:spTree>
    <p:extLst>
      <p:ext uri="{BB962C8B-B14F-4D97-AF65-F5344CB8AC3E}">
        <p14:creationId xmlns:p14="http://schemas.microsoft.com/office/powerpoint/2010/main" val="512378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e0d9a86ba44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DD4B4-5C6E-4434-983A-A881FDFC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198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085B1-9E1C-419D-967C-99E99581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579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1303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aa76554b047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5B389-7668-4F6F-9275-3B47E5F0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198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EBEE9-27E2-4033-AAAF-33B8EA8A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579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68793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243B5-1143-4B40-A82E-7C56EF36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552AA-67BA-487A-AE43-0D56404A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B86"/>
                </a:solidFill>
              </a:defRPr>
            </a:pPr>
            <a:r>
              <a:rPr sz="900" b="1">
                <a:solidFill>
                  <a:srgbClr val="008B86"/>
                </a:solidFill>
              </a:rPr>
              <a:t>应用层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FBC12-E317-4D23-A8E7-EC9720A7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B1413-8C57-4B89-B10B-C19ECC0E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WAIC 2018-2026 战略研究 · 供给侧窗口，不等同社会平均采用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7E607-94EC-43C1-91FA-15EDA3C6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77E2D-425D-4631-B345-B10A1FDF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12A"/>
                </a:solidFill>
              </a:defRPr>
            </a:pPr>
            <a:r>
              <a:rPr sz="3000" b="1">
                <a:solidFill>
                  <a:srgbClr val="13212A"/>
                </a:solidFill>
              </a:rPr>
              <a:t>应用不会同步成熟：软件 Agent 先走，家庭机器人最后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C74A0-2982-44EF-95AC-76C587E4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7C"/>
                </a:solidFill>
              </a:defRPr>
            </a:pPr>
            <a:r>
              <a:rPr sz="1350" b="0">
                <a:solidFill>
                  <a:srgbClr val="61737C"/>
                </a:solidFill>
              </a:rPr>
              <a:t>决定顺序的不是想象力，而是环境复杂度、验收标准和责任成本。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76024-369D-4EDC-85AB-EB66C58C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D0C57-E705-4C09-9E76-2BC1C7ED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644D9-3BEB-4D96-96C5-A9F65B8E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40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B86"/>
                </a:solidFill>
              </a:defRPr>
            </a:pPr>
            <a:r>
              <a:rPr sz="1800" b="1">
                <a:solidFill>
                  <a:srgbClr val="008B86"/>
                </a:solidFill>
              </a:rPr>
              <a:t>现在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D419A-64DD-4872-984B-84B7ABB8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955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2A"/>
                </a:solidFill>
              </a:defRPr>
            </a:pPr>
            <a:r>
              <a:rPr sz="1800" b="1">
                <a:solidFill>
                  <a:srgbClr val="13212A"/>
                </a:solidFill>
              </a:rPr>
              <a:t>软件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B819C-5663-4DEA-8590-10694A7D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0502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7C"/>
                </a:solidFill>
              </a:defRPr>
            </a:pPr>
            <a:r>
              <a:rPr sz="1275" b="0">
                <a:solidFill>
                  <a:srgbClr val="61737C"/>
                </a:solidFill>
              </a:rPr>
              <a:t>流程数字化、边界清楚、结果可复核；报价、专利、运营、病历草稿等先形成工作流。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273AA-D1F9-413C-8573-902D9304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A338C-7B42-4BF5-9EAE-C17F2490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C4383-A028-4BE1-8DE9-3149555B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70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F93"/>
                </a:solidFill>
              </a:defRPr>
            </a:pPr>
            <a:r>
              <a:rPr sz="1800" b="1">
                <a:solidFill>
                  <a:srgbClr val="2D6F93"/>
                </a:solidFill>
              </a:rPr>
              <a:t>随后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A90DA-433A-4D30-B845-FF35A37A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385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2A"/>
                </a:solidFill>
              </a:defRPr>
            </a:pPr>
            <a:r>
              <a:rPr sz="1800" b="1">
                <a:solidFill>
                  <a:srgbClr val="13212A"/>
                </a:solidFill>
              </a:rPr>
              <a:t>工业具身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5F376-C416-42C1-BC69-68DE2699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4802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7C"/>
                </a:solidFill>
              </a:defRPr>
            </a:pPr>
            <a:r>
              <a:rPr sz="1275" b="0">
                <a:solidFill>
                  <a:srgbClr val="61737C"/>
                </a:solidFill>
              </a:rPr>
              <a:t>工厂、仓库、药房和巡检环境更稳定，动作重复、ROI 可计算、异常可人工接管。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A77F1-83F5-4403-8771-65405884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66F7F-51F2-4607-AA47-72D44960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7EE6D-9BA0-444E-9906-10961ADF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644B"/>
                </a:solidFill>
              </a:defRPr>
            </a:pPr>
            <a:r>
              <a:rPr sz="1800" b="1">
                <a:solidFill>
                  <a:srgbClr val="F0644B"/>
                </a:solidFill>
              </a:rPr>
              <a:t>最难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8A8C9-AF07-442E-8ACE-25EEB081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815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2A"/>
                </a:solidFill>
              </a:defRPr>
            </a:pPr>
            <a:r>
              <a:rPr sz="1800" b="1">
                <a:solidFill>
                  <a:srgbClr val="13212A"/>
                </a:solidFill>
              </a:rPr>
              <a:t>通用家庭机器人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08E3E-4B4B-4BFB-8780-AFEA1299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9102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7C"/>
                </a:solidFill>
              </a:defRPr>
            </a:pPr>
            <a:r>
              <a:rPr sz="1275" b="0">
                <a:solidFill>
                  <a:srgbClr val="61737C"/>
                </a:solidFill>
              </a:rPr>
              <a:t>儿童、老人、宠物、柔性物体、隐私和无限长尾同时存在，可靠性与售后门槛最高。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B3EB0-E3BA-4519-A6B5-798B2A44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来源：WAIC 2018-2026 全样本与 2026 流水席；时间判断为基于现有证据的战略预判。</a:t>
            </a:r>
          </a:p>
        </p:txBody>
      </p:sp>
    </p:spTree>
    <p:extLst>
      <p:ext uri="{BB962C8B-B14F-4D97-AF65-F5344CB8AC3E}">
        <p14:creationId xmlns:p14="http://schemas.microsoft.com/office/powerpoint/2010/main" val="20263119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2a230f7df4e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B22F1-0F68-4B8E-929F-213391C0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198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C7569-D1B3-48F0-A900-79B6C949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579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59011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E721E0-19BA-4BF6-9ED7-FC643C7D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B0E56-F108-4499-BB80-9EBD8C84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B86"/>
                </a:solidFill>
              </a:defRPr>
            </a:pPr>
            <a:r>
              <a:rPr sz="900" b="1">
                <a:solidFill>
                  <a:srgbClr val="008B86"/>
                </a:solidFill>
              </a:rPr>
              <a:t>普通人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1D9ED-858C-407C-9D86-69C690DA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A8D46-055A-45EA-9081-82655A33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WAIC 2018-2026 战略研究 · 供给侧窗口，不等同社会平均采用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79360-4381-48C7-AF44-51C15565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F79AC-3950-4DB2-8652-F50A63DA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12A"/>
                </a:solidFill>
              </a:defRPr>
            </a:pPr>
            <a:r>
              <a:rPr sz="3000" b="1">
                <a:solidFill>
                  <a:srgbClr val="13212A"/>
                </a:solidFill>
              </a:rPr>
              <a:t>“机器狗陪孩子”其实混合了三种产品逻辑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95757-2950-4F6C-A30E-954222D0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7C"/>
                </a:solidFill>
              </a:defRPr>
            </a:pPr>
            <a:r>
              <a:rPr sz="1350" b="0">
                <a:solidFill>
                  <a:srgbClr val="61737C"/>
                </a:solidFill>
              </a:rPr>
              <a:t>移动工具、情绪消费品和医疗辅助设备，证据门槛完全不同。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9316D-7592-4448-927B-85311501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75427-8F8B-443A-B549-874F57FC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3FAA0-E180-4598-8C71-28729AD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2A"/>
                </a:solidFill>
              </a:defRPr>
            </a:pPr>
            <a:r>
              <a:rPr sz="1950" b="1">
                <a:solidFill>
                  <a:srgbClr val="13212A"/>
                </a:solidFill>
              </a:rPr>
              <a:t>维他动力“大头”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49914-A04E-4A54-A82D-A4C2F66F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B86"/>
                </a:solidFill>
              </a:defRPr>
            </a:pPr>
            <a:r>
              <a:rPr sz="1425" b="1">
                <a:solidFill>
                  <a:srgbClr val="008B86"/>
                </a:solidFill>
              </a:rPr>
              <a:t>工具型家庭机器人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9D3DF-F15C-4C86-83FD-3E69A336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37C"/>
                </a:solidFill>
              </a:defRPr>
            </a:pPr>
            <a:r>
              <a:rPr sz="1050" b="1">
                <a:solidFill>
                  <a:srgbClr val="61737C"/>
                </a:solidFill>
              </a:rPr>
              <a:t>产品逻辑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9A043-26DC-4883-BC2F-BD65F768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876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儿童科技玩具、社交、露营拖拽、远程看护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94A0F-A6C3-4BB7-9B6B-8A64BBDE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37C"/>
                </a:solidFill>
              </a:defRPr>
            </a:pPr>
            <a:r>
              <a:rPr sz="1050" b="1">
                <a:solidFill>
                  <a:srgbClr val="61737C"/>
                </a:solidFill>
              </a:rPr>
              <a:t>现有证据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A2823-5504-4697-A893-4A8A3C2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自报首销 6,540 台；12,988 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A1C77-EE7D-4447-B85C-BAB7CF51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0644B"/>
                </a:solidFill>
              </a:defRPr>
            </a:pPr>
            <a:r>
              <a:rPr sz="1125" b="0">
                <a:solidFill>
                  <a:srgbClr val="F0644B"/>
                </a:solidFill>
              </a:rPr>
              <a:t>自主去咖啡店点单是未来规划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C0829-507D-4DE7-86D5-BF43F4BC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3333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135DF-3518-4D17-BD02-F3EBE8EF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2E37B-429D-4CF2-BCB6-92A626E6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2A"/>
                </a:solidFill>
              </a:defRPr>
            </a:pPr>
            <a:r>
              <a:rPr sz="1950" b="1">
                <a:solidFill>
                  <a:srgbClr val="13212A"/>
                </a:solidFill>
              </a:rPr>
              <a:t>ROPET / 肉派派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7D927-7BD4-44C1-8241-CAC9E5CD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6F93"/>
                </a:solidFill>
              </a:defRPr>
            </a:pPr>
            <a:r>
              <a:rPr sz="1425" b="1">
                <a:solidFill>
                  <a:srgbClr val="2D6F93"/>
                </a:solidFill>
              </a:rPr>
              <a:t>桌面情绪宠物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8E650-D23D-4700-B767-D10735EE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37C"/>
                </a:solidFill>
              </a:defRPr>
            </a:pPr>
            <a:r>
              <a:rPr sz="1050" b="1">
                <a:solidFill>
                  <a:srgbClr val="61737C"/>
                </a:solidFill>
              </a:rPr>
              <a:t>产品逻辑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14FA9-EBE4-49B8-8F0F-7E2BCF43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2876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陪伴、主体感、不确定性；亲子用于培养责任感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8E062-D65D-461C-88F5-FA496743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576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37C"/>
                </a:solidFill>
              </a:defRPr>
            </a:pPr>
            <a:r>
              <a:rPr sz="1050" b="1">
                <a:solidFill>
                  <a:srgbClr val="61737C"/>
                </a:solidFill>
              </a:rPr>
              <a:t>现有证据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3FD6C-59A3-44D5-BD76-ADB178BF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148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自报 2 万多台、52 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7A3AEE-F9D4-4A94-A874-01D8A613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673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0644B"/>
                </a:solidFill>
              </a:defRPr>
            </a:pPr>
            <a:r>
              <a:rPr sz="1125" b="0">
                <a:solidFill>
                  <a:srgbClr val="F0644B"/>
                </a:solidFill>
              </a:rPr>
              <a:t>高频留存与情感依赖需核验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999D6C-C58B-40B7-ABDE-31184FBF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3337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13455-80B1-49B9-9DFE-79A57AB5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392783-B6EE-4ED4-8AC3-BF22E10E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2A"/>
                </a:solidFill>
              </a:defRPr>
            </a:pPr>
            <a:r>
              <a:rPr sz="1950" b="1">
                <a:solidFill>
                  <a:srgbClr val="13212A"/>
                </a:solidFill>
              </a:rPr>
              <a:t>福鑫“安安”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EB765-4F8A-465E-BF6D-2E4CDF12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644B"/>
                </a:solidFill>
              </a:defRPr>
            </a:pPr>
            <a:r>
              <a:rPr sz="1425" b="1">
                <a:solidFill>
                  <a:srgbClr val="F0644B"/>
                </a:solidFill>
              </a:rPr>
              <a:t>医疗辅助与陪伴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02BE82-9D80-4964-ADD5-469DEEC0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37C"/>
                </a:solidFill>
              </a:defRPr>
            </a:pPr>
            <a:r>
              <a:rPr sz="1050" b="1">
                <a:solidFill>
                  <a:srgbClr val="61737C"/>
                </a:solidFill>
              </a:rPr>
              <a:t>产品逻辑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98595F-E23E-4E39-ADCD-CFD7D18A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876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老人、脑退化、抑郁、孤独症、儿童康复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561CEB-6BD3-4006-A7F1-9337476B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576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1737C"/>
                </a:solidFill>
              </a:defRPr>
            </a:pPr>
            <a:r>
              <a:rPr sz="1050" b="1">
                <a:solidFill>
                  <a:srgbClr val="61737C"/>
                </a:solidFill>
              </a:rPr>
              <a:t>现有证据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20EE07-DEC2-4A41-B31A-A75A5C6A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厂商称机构测试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BC9405-703B-4E4B-9738-43955DAF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673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0644B"/>
                </a:solidFill>
              </a:defRPr>
            </a:pPr>
            <a:r>
              <a:rPr sz="1125" b="0">
                <a:solidFill>
                  <a:srgbClr val="F0644B"/>
                </a:solidFill>
              </a:rPr>
              <a:t>疗效、研究设计和认证均待独立验证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6AC52C-E0D3-4CCF-8316-2645706F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来源：2026-07-18 流水席完整逐字稿；销量、地区、用户和效果均保留厂商自报属性。</a:t>
            </a:r>
          </a:p>
        </p:txBody>
      </p:sp>
    </p:spTree>
    <p:extLst>
      <p:ext uri="{BB962C8B-B14F-4D97-AF65-F5344CB8AC3E}">
        <p14:creationId xmlns:p14="http://schemas.microsoft.com/office/powerpoint/2010/main" val="1576742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43989-256A-4482-A8CE-DDC976D3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D2223-82F5-441F-8CFC-40D99AEA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B86"/>
                </a:solidFill>
              </a:defRPr>
            </a:pPr>
            <a:r>
              <a:rPr sz="900" b="1">
                <a:solidFill>
                  <a:srgbClr val="008B86"/>
                </a:solidFill>
              </a:rPr>
              <a:t>普通人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3FAF7-22A3-41CD-A3A1-0F5675BF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8E53D-CD17-4AD4-A11F-3240AE3D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WAIC 2018-2026 战略研究 · 供给侧窗口，不等同社会平均采用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59351-5B38-44DF-B4D9-4532E1BD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A5ECB-1CAF-45D9-9AC1-E463B69B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12A"/>
                </a:solidFill>
              </a:defRPr>
            </a:pPr>
            <a:r>
              <a:rPr sz="3000" b="1">
                <a:solidFill>
                  <a:srgbClr val="13212A"/>
                </a:solidFill>
              </a:rPr>
              <a:t>普通人的第一波变化，是工作流和控制权被重新分配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58895-73C0-4B18-8FF2-F80BB891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8B86"/>
                </a:solidFill>
              </a:defRPr>
            </a:pPr>
            <a:r>
              <a:rPr sz="2325" b="1">
                <a:solidFill>
                  <a:srgbClr val="008B8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7FCD0-8224-4895-8267-CC1A8099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669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2A"/>
                </a:solidFill>
              </a:defRPr>
            </a:pPr>
            <a:r>
              <a:rPr sz="2025" b="1">
                <a:solidFill>
                  <a:srgbClr val="13212A"/>
                </a:solidFill>
              </a:rPr>
              <a:t>委托者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05EB4-B1D8-4BAE-B610-3E7A57C4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859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12A"/>
                </a:solidFill>
              </a:defRPr>
            </a:pPr>
            <a:r>
              <a:rPr sz="1500" b="0">
                <a:solidFill>
                  <a:srgbClr val="13212A"/>
                </a:solidFill>
              </a:rPr>
              <a:t>把目标交给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6CF22-1040-421F-A962-C2862BCF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859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7C"/>
                </a:solidFill>
              </a:defRPr>
            </a:pPr>
            <a:r>
              <a:rPr sz="1275" b="0">
                <a:solidFill>
                  <a:srgbClr val="61737C"/>
                </a:solidFill>
              </a:rPr>
              <a:t>需要定义边界和验收标准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4AF82-E9C2-4ED0-A643-72FAF9C6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9EC25-AD34-46F8-BD20-DECF0A4D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6F93"/>
                </a:solidFill>
              </a:defRPr>
            </a:pPr>
            <a:r>
              <a:rPr sz="2325" b="1">
                <a:solidFill>
                  <a:srgbClr val="2D6F93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CF852-9E0E-49E5-BE54-0AA11FD5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670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2A"/>
                </a:solidFill>
              </a:defRPr>
            </a:pPr>
            <a:r>
              <a:rPr sz="2025" b="1">
                <a:solidFill>
                  <a:srgbClr val="13212A"/>
                </a:solidFill>
              </a:rPr>
              <a:t>监督者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58B3E-528B-4C61-B6C1-AABA4AF3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860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12A"/>
                </a:solidFill>
              </a:defRPr>
            </a:pPr>
            <a:r>
              <a:rPr sz="1500" b="0">
                <a:solidFill>
                  <a:srgbClr val="13212A"/>
                </a:solidFill>
              </a:rPr>
              <a:t>复核高风险结果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D9889-42F3-408C-85B9-9DCAC09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860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7C"/>
                </a:solidFill>
              </a:defRPr>
            </a:pPr>
            <a:r>
              <a:rPr sz="1275" b="0">
                <a:solidFill>
                  <a:srgbClr val="61737C"/>
                </a:solidFill>
              </a:rPr>
              <a:t>需要日志、撤销和人工接管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AFE6A-AF6F-42DD-B657-C25BCB19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AB55B-B5D6-44CB-B911-9E87DB44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65CA6"/>
                </a:solidFill>
              </a:defRPr>
            </a:pPr>
            <a:r>
              <a:rPr sz="2325" b="1">
                <a:solidFill>
                  <a:srgbClr val="765CA6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E01EB-3CF4-44E8-A8D2-50BB77E9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67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2A"/>
                </a:solidFill>
              </a:defRPr>
            </a:pPr>
            <a:r>
              <a:rPr sz="2025" b="1">
                <a:solidFill>
                  <a:srgbClr val="13212A"/>
                </a:solidFill>
              </a:rPr>
              <a:t>被评估者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4D7DA-E4E0-4FBA-8CE1-8FA1EA49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86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12A"/>
                </a:solidFill>
              </a:defRPr>
            </a:pPr>
            <a:r>
              <a:rPr sz="1500" b="0">
                <a:solidFill>
                  <a:srgbClr val="13212A"/>
                </a:solidFill>
              </a:rPr>
              <a:t>招聘、教育、金融、医疗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9A2D2-9D70-4439-AEAA-BA2B32C1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862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7C"/>
                </a:solidFill>
              </a:defRPr>
            </a:pPr>
            <a:r>
              <a:rPr sz="1275" b="0">
                <a:solidFill>
                  <a:srgbClr val="61737C"/>
                </a:solidFill>
              </a:rPr>
              <a:t>需要知情、解释和申诉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6B64E-BF80-4883-BF72-1A135996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540A42-A34A-4D10-B1B1-69B5982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4B"/>
                </a:solidFill>
              </a:defRPr>
            </a:pPr>
            <a:r>
              <a:rPr sz="2325" b="1">
                <a:solidFill>
                  <a:srgbClr val="F0644B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A9074-863D-43F9-A722-F1BC1B11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672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2A"/>
                </a:solidFill>
              </a:defRPr>
            </a:pPr>
            <a:r>
              <a:rPr sz="2025" b="1">
                <a:solidFill>
                  <a:srgbClr val="13212A"/>
                </a:solidFill>
              </a:rPr>
              <a:t>数据提供者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5D58C-5003-48EE-A963-AC62E9B5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863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12A"/>
                </a:solidFill>
              </a:defRPr>
            </a:pPr>
            <a:r>
              <a:rPr sz="1500" b="0">
                <a:solidFill>
                  <a:srgbClr val="13212A"/>
                </a:solidFill>
              </a:rPr>
              <a:t>眼镜、汽车、陪伴设备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96E27-9850-487A-8CD7-F9314546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863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7C"/>
                </a:solidFill>
              </a:defRPr>
            </a:pPr>
            <a:r>
              <a:rPr sz="1275" b="0">
                <a:solidFill>
                  <a:srgbClr val="61737C"/>
                </a:solidFill>
              </a:rPr>
              <a:t>需要查看、删除、退出和旁观者同意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24C43-C12F-44C1-BCE1-0D407C8F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EE788-D928-4352-AB74-11D789C3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DB730-9C26-43E9-BA7C-EEB84D5A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1502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真正需要学习的不是提示词，而是委托、验证、领域判断和权限管理。</a:t>
            </a:r>
          </a:p>
        </p:txBody>
      </p:sp>
    </p:spTree>
    <p:extLst>
      <p:ext uri="{BB962C8B-B14F-4D97-AF65-F5344CB8AC3E}">
        <p14:creationId xmlns:p14="http://schemas.microsoft.com/office/powerpoint/2010/main" val="6649169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147103efc49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9C7FC-0586-49A1-BBF2-BF827F16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198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45548-C707-421A-BB7A-50C57EC6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579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781623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307805-0FF7-4468-B93B-08EE40A6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B18AD-0CE8-4E81-B4F6-5277F9C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B86"/>
                </a:solidFill>
              </a:defRPr>
            </a:pPr>
            <a:r>
              <a:rPr sz="900" b="1">
                <a:solidFill>
                  <a:srgbClr val="008B86"/>
                </a:solidFill>
              </a:rPr>
              <a:t>岗位与技能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4A5B2-4903-45F8-AE93-6298A868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C5DB8-6843-48F4-80F5-BE326C5A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WAIC 2018-2026 战略研究 · 供给侧窗口，不等同社会平均采用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D3AB6-FC49-460F-B7B2-17CBD76A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5E4E7-BAF8-4DA0-B60E-7D8B28F8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12A"/>
                </a:solidFill>
              </a:defRPr>
            </a:pPr>
            <a:r>
              <a:rPr sz="3000" b="1">
                <a:solidFill>
                  <a:srgbClr val="13212A"/>
                </a:solidFill>
              </a:rPr>
              <a:t>外部数据更支持“任务重构”，而不是“职业整体消失”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03CE9-0450-42E0-9583-62210D70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452C8-F0BD-4149-8627-27B36ED8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F6BC2-3893-4D97-A234-C9D9CCA1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8B86"/>
                </a:solidFill>
              </a:defRPr>
            </a:pPr>
            <a:r>
              <a:rPr sz="3750" b="1">
                <a:solidFill>
                  <a:srgbClr val="008B86"/>
                </a:solidFill>
              </a:rPr>
              <a:t>+78m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89000-9578-4B05-BBC1-00579BB9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2A"/>
                </a:solidFill>
              </a:defRPr>
            </a:pPr>
            <a:r>
              <a:rPr sz="1575" b="1">
                <a:solidFill>
                  <a:srgbClr val="13212A"/>
                </a:solidFill>
              </a:rPr>
              <a:t>WEF 2030 净增岗位预测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2C593-AA2C-4ADC-8E3E-3C6E405C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1.70 亿新增、9,200 万替代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20A49-2832-4C58-A33C-2E85060C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59130-14FE-4C35-81CE-24316767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E2F55-87B5-4ACA-AECC-5EE525B6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479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0644B"/>
                </a:solidFill>
              </a:defRPr>
            </a:pPr>
            <a:r>
              <a:rPr sz="3750" b="1">
                <a:solidFill>
                  <a:srgbClr val="F0644B"/>
                </a:solidFill>
              </a:rPr>
              <a:t>39%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E88D6-C00C-4B74-92F0-4F549CF2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2A"/>
                </a:solidFill>
              </a:defRPr>
            </a:pPr>
            <a:r>
              <a:rPr sz="1575" b="1">
                <a:solidFill>
                  <a:srgbClr val="13212A"/>
                </a:solidFill>
              </a:rPr>
              <a:t>WEF 现有技能变化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A2F75-CA77-4536-B282-01748218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2025-2030 预计变化或过时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11638-D1AE-4235-8A83-5C682F15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B5184-0426-4312-84B2-DF6BA6F9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C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57286-017E-4E32-9EE9-5899FA8E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65CA6"/>
                </a:solidFill>
              </a:defRPr>
            </a:pPr>
            <a:r>
              <a:rPr sz="3750" b="1">
                <a:solidFill>
                  <a:srgbClr val="765CA6"/>
                </a:solidFill>
              </a:rPr>
              <a:t>1/4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9E9B4-D722-492D-853C-7526F3F4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2A"/>
                </a:solidFill>
              </a:defRPr>
            </a:pPr>
            <a:r>
              <a:rPr sz="1575" b="1">
                <a:solidFill>
                  <a:srgbClr val="13212A"/>
                </a:solidFill>
              </a:rPr>
              <a:t>ILO 某种 GenAI 暴露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5D047-5D72-44AF-9FC2-D14E686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最高暴露级仅占全球就业 3.3%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61842-89F9-468D-A9C4-5062F5A6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05000"/>
            <a:ext cx="2514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7A0700-0859-4E3E-ABAE-B746E97F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050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51A9F-F25B-440D-B05A-B8C9E82B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6F93"/>
                </a:solidFill>
              </a:defRPr>
            </a:pPr>
            <a:r>
              <a:rPr sz="3750" b="1">
                <a:solidFill>
                  <a:srgbClr val="2D6F93"/>
                </a:solidFill>
              </a:rPr>
              <a:t>70%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449F76-8BE1-48E1-9A1F-4CDDECFA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2A"/>
                </a:solidFill>
              </a:defRPr>
            </a:pPr>
            <a:r>
              <a:rPr sz="1575" b="1">
                <a:solidFill>
                  <a:srgbClr val="13212A"/>
                </a:solidFill>
              </a:rPr>
              <a:t>LinkedIn 技能变化估计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65DDE5-D08B-4144-A0CB-2571E7FF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到 2030 年多数工作的技能组合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CA5550-E589-42BB-A0C3-6AB49DB5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ECEDB1-BF4F-4CB1-82D1-D79D25B6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F6B"/>
                </a:solidFill>
              </a:defRPr>
            </a:pPr>
            <a:r>
              <a:rPr sz="1800" b="1">
                <a:solidFill>
                  <a:srgbClr val="006F6B"/>
                </a:solidFill>
              </a:rPr>
              <a:t>中国信号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506DA-29BC-411F-882A-FCC45EBC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10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A"/>
                </a:solidFill>
              </a:defRPr>
            </a:pPr>
            <a:r>
              <a:rPr sz="1425" b="0">
                <a:solidFill>
                  <a:srgbClr val="13212A"/>
                </a:solidFill>
              </a:rPr>
              <a:t>2024 年公布的 19 个新职业中已出现“生成式人工智能系统应用员”，应用与实施能力开始正式职业化。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A53C97-887B-4D68-9644-D94AF668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来源：WEF Future of Jobs 2025；ILO GenAI and Jobs 2025；LinkedIn Work Change 2025；中国政府网。口径不同，不加总。</a:t>
            </a:r>
          </a:p>
        </p:txBody>
      </p:sp>
    </p:spTree>
    <p:extLst>
      <p:ext uri="{BB962C8B-B14F-4D97-AF65-F5344CB8AC3E}">
        <p14:creationId xmlns:p14="http://schemas.microsoft.com/office/powerpoint/2010/main" val="3062842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6d2c1bedc46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9E535-3E4E-43EB-B333-FF8F9A8C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198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B931D-A45B-4180-8E5C-34C5661B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579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358284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2A610E-CE75-43C0-B9FB-D6418342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1346F-81A6-48EB-93EB-82E8A371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B86"/>
                </a:solidFill>
              </a:defRPr>
            </a:pPr>
            <a:r>
              <a:rPr sz="900" b="1">
                <a:solidFill>
                  <a:srgbClr val="008B86"/>
                </a:solidFill>
              </a:rPr>
              <a:t>岗位与技能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DA60D-CB59-4D49-A05D-3E4445B9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C985D-79E9-4E71-AF29-4004B680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WAIC 2018-2026 战略研究 · 供给侧窗口，不等同社会平均采用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46E5F-2FDD-42CA-81CF-853B4A8C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EA0B1-CC85-4CC2-8203-9E532B83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12A"/>
                </a:solidFill>
              </a:defRPr>
            </a:pPr>
            <a:r>
              <a:rPr sz="3000" b="1">
                <a:solidFill>
                  <a:srgbClr val="13212A"/>
                </a:solidFill>
              </a:rPr>
              <a:t>六类岗位会随 AI 的责任半径一起扩展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3D690-6D95-4E7D-BA97-E5CCB678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7C"/>
                </a:solidFill>
              </a:defRPr>
            </a:pPr>
            <a:r>
              <a:rPr sz="1350" b="0">
                <a:solidFill>
                  <a:srgbClr val="61737C"/>
                </a:solidFill>
              </a:rPr>
              <a:t>高概率增长的是“让 AI 可用、可验、可运营、可追责”的工作。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60421-9FAC-48C8-8D4B-B0720851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81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597D5-F208-4EBB-9470-1882244B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14887-C6D8-4B8B-8B45-FA5BEBD2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2A"/>
                </a:solidFill>
              </a:defRPr>
            </a:pPr>
            <a:r>
              <a:rPr sz="1725" b="1">
                <a:solidFill>
                  <a:srgbClr val="13212A"/>
                </a:solidFill>
              </a:rPr>
              <a:t>数据生产与质量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C0918-C10F-4F0F-BA41-CCEE5190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145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采集、标注、清洗、合成数据、版本管理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95B6F-D679-4F81-A580-90F7050C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181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AD4E6-C8AD-4018-878E-EA874C41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85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F994E-A64C-4080-B1CA-2DB27C4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240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2A"/>
                </a:solidFill>
              </a:defRPr>
            </a:pPr>
            <a:r>
              <a:rPr sz="1725" b="1">
                <a:solidFill>
                  <a:srgbClr val="13212A"/>
                </a:solidFill>
              </a:rPr>
              <a:t>Agent 编排运营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EF82D-90FE-4DB8-8886-2F87F2A5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工作流、工具接入、权限、记忆、运行观测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76B07-0A5F-4D8D-AB99-C63EDFC8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181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74F3B-6F06-40B9-945C-378F942F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85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E4EDE-D176-4590-947A-D78910D7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2A"/>
                </a:solidFill>
              </a:defRPr>
            </a:pPr>
            <a:r>
              <a:rPr sz="1725" b="1">
                <a:solidFill>
                  <a:srgbClr val="13212A"/>
                </a:solidFill>
              </a:rPr>
              <a:t>AI 评测与保障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F5FFE-4CD2-44BD-81AC-D149E11E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37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红队、安全评测、审计、事件响应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43261-033B-4FAF-8ED2-C14FAE48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5181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C6073-64BB-4735-89EE-147A609B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85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E679B-A224-4218-86EC-7717429D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432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2A"/>
                </a:solidFill>
              </a:defRPr>
            </a:pPr>
            <a:r>
              <a:rPr sz="1725" b="1">
                <a:solidFill>
                  <a:srgbClr val="13212A"/>
                </a:solidFill>
              </a:rPr>
              <a:t>机器人后市场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6A4F3-1AA8-4FDC-85C4-7D7555B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部署、遥操作、维护、校准、现场改造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F2808-4BFC-43DD-A1C6-723B4487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5181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E89026-A287-4DA0-A9DD-7B1E637E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85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B8F998-F60E-446A-A046-5DA72943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2A"/>
                </a:solidFill>
              </a:defRPr>
            </a:pPr>
            <a:r>
              <a:rPr sz="1725" b="1">
                <a:solidFill>
                  <a:srgbClr val="13212A"/>
                </a:solidFill>
              </a:rPr>
              <a:t>领域知识工程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31F2FC-0156-4A5D-8F23-F7D99FCE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529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医疗、法律、工业、物流、气象规则工程化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B9EF53-8568-4DE3-ACDE-DF0B5715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91025"/>
            <a:ext cx="5181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ED864-453A-4051-9442-9D285F6C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91025"/>
            <a:ext cx="85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1282C2-6F78-418C-9D01-7944B5EF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624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2A"/>
                </a:solidFill>
              </a:defRPr>
            </a:pPr>
            <a:r>
              <a:rPr sz="1725" b="1">
                <a:solidFill>
                  <a:srgbClr val="13212A"/>
                </a:solidFill>
              </a:rPr>
              <a:t>人类监督与责任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BC668-182D-44BF-9C88-9E79D827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7C"/>
                </a:solidFill>
              </a:defRPr>
            </a:pPr>
            <a:r>
              <a:rPr sz="1200" b="0">
                <a:solidFill>
                  <a:srgbClr val="61737C"/>
                </a:solidFill>
              </a:rPr>
              <a:t>复核、接管、申诉、合规、事故调查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6A7F68-5452-49A6-B108-A60CE95A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预判依据：WAIC 供给侧样本、2026 流水席能力链、外部岗位与技能研究；不提供未经招聘样本支持的岗位数量。</a:t>
            </a:r>
          </a:p>
        </p:txBody>
      </p:sp>
    </p:spTree>
    <p:extLst>
      <p:ext uri="{BB962C8B-B14F-4D97-AF65-F5344CB8AC3E}">
        <p14:creationId xmlns:p14="http://schemas.microsoft.com/office/powerpoint/2010/main" val="4635770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924801-CD7E-41F3-AEB6-FBD4AA49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1C69F-FB2B-4CF7-86A2-8AA1A0F4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B86"/>
                </a:solidFill>
              </a:defRPr>
            </a:pPr>
            <a:r>
              <a:rPr sz="900" b="1">
                <a:solidFill>
                  <a:srgbClr val="008B86"/>
                </a:solidFill>
              </a:rPr>
              <a:t>AI 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04C2C-C254-4C25-98D1-4FA45908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32068-E160-48C7-83F6-E44CBEB1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WAIC 2018-2026 战略研究 · 供给侧窗口，不等同社会平均采用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2E573-6CED-48D5-A91B-257F8223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C30AE-4032-4E4F-9CFB-1198C66D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12A"/>
                </a:solidFill>
              </a:defRPr>
            </a:pPr>
            <a:r>
              <a:rPr sz="3000" b="1">
                <a:solidFill>
                  <a:srgbClr val="13212A"/>
                </a:solidFill>
              </a:rPr>
              <a:t>治理已从原则讨论走向可执行义务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5AABC-9502-46C4-9633-EA7E7056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036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0AE64-F113-455B-8879-49C4A581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E11C6-03DF-458E-9322-937651C6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8B86"/>
                </a:solidFill>
              </a:defRPr>
            </a:pPr>
            <a:r>
              <a:rPr sz="1875" b="1">
                <a:solidFill>
                  <a:srgbClr val="008B86"/>
                </a:solidFill>
              </a:rPr>
              <a:t>2019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42C8E-D88D-472F-A9C4-88AF7DA2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12A"/>
                </a:solidFill>
              </a:defRPr>
            </a:pPr>
            <a:r>
              <a:rPr sz="1200" b="0">
                <a:solidFill>
                  <a:srgbClr val="13212A"/>
                </a:solidFill>
              </a:rPr>
              <a:t>OECD AI 原则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2302A-E0A7-4AA6-831F-077EAB87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8610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47DA2-9A49-4AA3-A8C3-9D4EED5A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62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6F93"/>
                </a:solidFill>
              </a:defRPr>
            </a:pPr>
            <a:r>
              <a:rPr sz="1875" b="1">
                <a:solidFill>
                  <a:srgbClr val="2D6F93"/>
                </a:solidFill>
              </a:rPr>
              <a:t>2021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1E188-5648-415C-B4B4-FBF99DC4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624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12A"/>
                </a:solidFill>
              </a:defRPr>
            </a:pPr>
            <a:r>
              <a:rPr sz="1200" b="0">
                <a:solidFill>
                  <a:srgbClr val="13212A"/>
                </a:solidFill>
              </a:rPr>
              <a:t>UNESCO AI 伦理建议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96CCC-68C0-41DC-9D33-4DE29CBA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C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3C208-F541-4392-99B4-E5AA5BC9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65CA6"/>
                </a:solidFill>
              </a:defRPr>
            </a:pPr>
            <a:r>
              <a:rPr sz="1875" b="1">
                <a:solidFill>
                  <a:srgbClr val="765CA6"/>
                </a:solidFill>
              </a:rPr>
              <a:t>2023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8FB3D-24C0-40FF-B23A-573CA163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47925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12A"/>
                </a:solidFill>
              </a:defRPr>
            </a:pPr>
            <a:r>
              <a:rPr sz="1200" b="0">
                <a:solidFill>
                  <a:srgbClr val="13212A"/>
                </a:solidFill>
              </a:rPr>
              <a:t>中国生成式 AI 规则</a:t>
            </a:r>
          </a:p>
          <a:p xmlns:a="http://schemas.openxmlformats.org/drawingml/2006/main">
            <a:pPr algn="ctr">
              <a:defRPr sz="1200" b="0">
                <a:solidFill>
                  <a:srgbClr val="13212A"/>
                </a:solidFill>
              </a:defRPr>
            </a:pPr>
            <a:r>
              <a:rPr sz="1200" b="0">
                <a:solidFill>
                  <a:srgbClr val="13212A"/>
                </a:solidFill>
              </a:rPr>
              <a:t>全球治理倡议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DE5F5-F3A8-4295-A7CC-5A03403B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1F27B-6435-4380-BDAD-DE06933C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39A2F"/>
                </a:solidFill>
              </a:defRPr>
            </a:pPr>
            <a:r>
              <a:rPr sz="1875" b="1">
                <a:solidFill>
                  <a:srgbClr val="D39A2F"/>
                </a:solidFill>
              </a:rPr>
              <a:t>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0B7CA-302C-4FA0-BE28-A6B7FF51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12A"/>
                </a:solidFill>
              </a:defRPr>
            </a:pPr>
            <a:r>
              <a:rPr sz="1200" b="0">
                <a:solidFill>
                  <a:srgbClr val="13212A"/>
                </a:solidFill>
              </a:rPr>
              <a:t>EU AI Act 生效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7F009-63A6-4CBE-9B68-290031BA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D9FDD-31CD-445B-8F64-358C0AFA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0644B"/>
                </a:solidFill>
              </a:defRPr>
            </a:pPr>
            <a:r>
              <a:rPr sz="1875" b="1">
                <a:solidFill>
                  <a:srgbClr val="F0644B"/>
                </a:solidFill>
              </a:rPr>
              <a:t>2025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3DEEC-B8E7-4983-A7CB-A5BA83C5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47925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12A"/>
                </a:solidFill>
              </a:defRPr>
            </a:pPr>
            <a:r>
              <a:rPr sz="1200" b="0">
                <a:solidFill>
                  <a:srgbClr val="13212A"/>
                </a:solidFill>
              </a:rPr>
              <a:t>中国内容标识办法</a:t>
            </a:r>
          </a:p>
          <a:p xmlns:a="http://schemas.openxmlformats.org/drawingml/2006/main">
            <a:pPr algn="ctr">
              <a:defRPr sz="1200" b="0">
                <a:solidFill>
                  <a:srgbClr val="13212A"/>
                </a:solidFill>
              </a:defRPr>
            </a:pPr>
            <a:r>
              <a:rPr sz="1200" b="0">
                <a:solidFill>
                  <a:srgbClr val="13212A"/>
                </a:solidFill>
              </a:rPr>
              <a:t>“人工智能+”意见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95324-5980-4031-BBA8-ECF4F4FD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86100"/>
            <a:ext cx="17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F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90AA3-9FC6-4E2C-8932-3EB9B579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62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6F6B"/>
                </a:solidFill>
              </a:defRPr>
            </a:pPr>
            <a:r>
              <a:rPr sz="1875" b="1">
                <a:solidFill>
                  <a:srgbClr val="006F6B"/>
                </a:solidFill>
              </a:rPr>
              <a:t>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C99B1-4CAD-4795-9473-74E86E50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624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12A"/>
                </a:solidFill>
              </a:defRPr>
            </a:pPr>
            <a:r>
              <a:rPr sz="1200" b="0">
                <a:solidFill>
                  <a:srgbClr val="13212A"/>
                </a:solidFill>
              </a:rPr>
              <a:t>EU 透明义务适用</a:t>
            </a:r>
          </a:p>
          <a:p xmlns:a="http://schemas.openxmlformats.org/drawingml/2006/main">
            <a:pPr algn="ctr">
              <a:defRPr sz="1200" b="0">
                <a:solidFill>
                  <a:srgbClr val="13212A"/>
                </a:solidFill>
              </a:defRPr>
            </a:pPr>
            <a:r>
              <a:rPr sz="1200" b="0">
                <a:solidFill>
                  <a:srgbClr val="13212A"/>
                </a:solidFill>
              </a:rPr>
              <a:t>Agent 持续治理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86914-5349-4012-B25F-0CA5FEAA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D9E9D7-DC4B-411B-BEF4-70C19054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共同方向：风险分级 · 透明标识 · 部署前测试 · 日志与人类监督 · 事件报告 · 责任与救济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34566C-1299-47D7-8B4E-D84EABDA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来源：中国政府网、European Commission、OECD、UNESCO；政策节点为正式文件或官方页面。</a:t>
            </a:r>
          </a:p>
        </p:txBody>
      </p:sp>
    </p:spTree>
    <p:extLst>
      <p:ext uri="{BB962C8B-B14F-4D97-AF65-F5344CB8AC3E}">
        <p14:creationId xmlns:p14="http://schemas.microsoft.com/office/powerpoint/2010/main" val="11814157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5d53eb57a42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D490D-9EA8-4C7B-91BB-71344ED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198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3753C-B571-416A-849E-A98C96EF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4579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796628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44816B-FEE1-4D2C-91F2-CC2A6779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91895-6D8C-450F-9D74-EB69224F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B86"/>
                </a:solidFill>
              </a:defRPr>
            </a:pPr>
            <a:r>
              <a:rPr sz="900" b="1">
                <a:solidFill>
                  <a:srgbClr val="008B86"/>
                </a:solidFill>
              </a:rPr>
              <a:t>AI 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8A94E-83A2-4EF8-AD3F-86FBAE0A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924F1-F4C7-49CA-A4E0-20A29434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WAIC 2018-2026 战略研究 · 供给侧窗口，不等同社会平均采用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90D31-B83F-492C-8C37-7CDEF84F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5318-9710-496B-9DC0-434924B3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12A"/>
                </a:solidFill>
              </a:defRPr>
            </a:pPr>
            <a:r>
              <a:rPr sz="3000" b="1">
                <a:solidFill>
                  <a:srgbClr val="13212A"/>
                </a:solidFill>
              </a:rPr>
              <a:t>治理不是附加成本，而是进入高价值场景的规模化条件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CEF48-465D-4211-8C79-96CFB016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6F6B"/>
                </a:solidFill>
              </a:defRPr>
            </a:pPr>
            <a:r>
              <a:rPr sz="1950" b="1">
                <a:solidFill>
                  <a:srgbClr val="006F6B"/>
                </a:solidFill>
              </a:rPr>
              <a:t>组织基础设施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6CBFF-7B60-45E5-8B37-FA3FCC5A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6F93"/>
                </a:solidFill>
              </a:defRPr>
            </a:pPr>
            <a:r>
              <a:rPr sz="1950" b="1">
                <a:solidFill>
                  <a:srgbClr val="2D6F93"/>
                </a:solidFill>
              </a:rPr>
              <a:t>产业化服务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46597-DB18-4E49-8593-2351D58B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B86"/>
                </a:solidFill>
              </a:defRPr>
            </a:pPr>
            <a:r>
              <a:rPr sz="1500" b="1">
                <a:solidFill>
                  <a:srgbClr val="008B86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0127A-8C40-474C-B0C4-31E73E1D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2A"/>
                </a:solidFill>
              </a:defRPr>
            </a:pPr>
            <a:r>
              <a:rPr sz="1500" b="1">
                <a:solidFill>
                  <a:srgbClr val="13212A"/>
                </a:solidFill>
              </a:rPr>
              <a:t>AI 资产盘点与台账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77E49-08C3-4017-9C77-46CE53FE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62A66-3656-4096-8E07-5A56FEF7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B86"/>
                </a:solidFill>
              </a:defRPr>
            </a:pPr>
            <a:r>
              <a:rPr sz="1500" b="1">
                <a:solidFill>
                  <a:srgbClr val="008B86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95BAC-2925-4CAC-A59C-366E1AFB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2A"/>
                </a:solidFill>
              </a:defRPr>
            </a:pPr>
            <a:r>
              <a:rPr sz="1500" b="1">
                <a:solidFill>
                  <a:srgbClr val="13212A"/>
                </a:solidFill>
              </a:rPr>
              <a:t>模型 / Agent 评测与红队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366B4-A297-45C7-93C6-E16EEEAA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9D665-0375-4039-8F32-4281A4CE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B86"/>
                </a:solidFill>
              </a:defRPr>
            </a:pPr>
            <a:r>
              <a:rPr sz="1500" b="1">
                <a:solidFill>
                  <a:srgbClr val="008B86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2B160-D199-45BB-8E0D-B479D29C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2A"/>
                </a:solidFill>
              </a:defRPr>
            </a:pPr>
            <a:r>
              <a:rPr sz="1500" b="1">
                <a:solidFill>
                  <a:srgbClr val="13212A"/>
                </a:solidFill>
              </a:rPr>
              <a:t>内容来源、水印与传播验证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418F3-40F4-422B-8FF5-9D200D0A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3D69B-EC01-4B26-972F-F75A58C9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B86"/>
                </a:solidFill>
              </a:defRPr>
            </a:pPr>
            <a:r>
              <a:rPr sz="1500" b="1">
                <a:solidFill>
                  <a:srgbClr val="008B86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E6158-18FD-4C27-8F96-A9B3200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2A"/>
                </a:solidFill>
              </a:defRPr>
            </a:pPr>
            <a:r>
              <a:rPr sz="1500" b="1">
                <a:solidFill>
                  <a:srgbClr val="13212A"/>
                </a:solidFill>
              </a:rPr>
              <a:t>身份、权限与密钥基础设施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61ECE-DD5A-4763-A8BF-B33D9135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975C0-C782-4C28-BF4B-E6507E89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F93"/>
                </a:solidFill>
              </a:defRPr>
            </a:pPr>
            <a:r>
              <a:rPr sz="1500" b="1">
                <a:solidFill>
                  <a:srgbClr val="2D6F93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E50D5-D43D-4586-8BCB-A2DBE1EC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2A"/>
                </a:solidFill>
              </a:defRPr>
            </a:pPr>
            <a:r>
              <a:rPr sz="1500" b="1">
                <a:solidFill>
                  <a:srgbClr val="13212A"/>
                </a:solidFill>
              </a:rPr>
              <a:t>运行观测、偏离检测与取证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E4427-75F3-44BD-8FE5-79A58A0C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47975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FF571-5FF6-4781-8161-7C4F6E70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F93"/>
                </a:solidFill>
              </a:defRPr>
            </a:pPr>
            <a:r>
              <a:rPr sz="1500" b="1">
                <a:solidFill>
                  <a:srgbClr val="2D6F93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019B1-3BD8-4C62-967F-53002A1B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2A"/>
                </a:solidFill>
              </a:defRPr>
            </a:pPr>
            <a:r>
              <a:rPr sz="1500" b="1">
                <a:solidFill>
                  <a:srgbClr val="13212A"/>
                </a:solidFill>
              </a:rPr>
              <a:t>机器人 / 车 / 医疗仿真与安全测试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329625-832F-408B-86C6-8BF2523F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71875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DBBCE1-589B-4D14-989D-C50F29FE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F93"/>
                </a:solidFill>
              </a:defRPr>
            </a:pPr>
            <a:r>
              <a:rPr sz="1500" b="1">
                <a:solidFill>
                  <a:srgbClr val="2D6F93"/>
                </a:solidFill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CCFA2D-BE7E-4EAE-AD9A-66486BC1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2A"/>
                </a:solidFill>
              </a:defRPr>
            </a:pPr>
            <a:r>
              <a:rPr sz="1500" b="1">
                <a:solidFill>
                  <a:srgbClr val="13212A"/>
                </a:solidFill>
              </a:rPr>
              <a:t>AI 责任保险、召回和损害评估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8CDFE8-8F93-4319-A9B5-B345AED9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95775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A313BB-178A-4DD8-858E-3C776FAB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F93"/>
                </a:solidFill>
              </a:defRPr>
            </a:pPr>
            <a:r>
              <a:rPr sz="1500" b="1">
                <a:solidFill>
                  <a:srgbClr val="2D6F93"/>
                </a:solidFill>
              </a:rP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818C93-07F7-4F75-82A9-F72E66AB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2A"/>
                </a:solidFill>
              </a:defRPr>
            </a:pPr>
            <a:r>
              <a:rPr sz="1500" b="1">
                <a:solidFill>
                  <a:srgbClr val="13212A"/>
                </a:solidFill>
              </a:rPr>
              <a:t>AI 素养、岗位认证与行业培训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3837D7-FA79-4C33-8252-57C10554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19675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B7FC33-B1BC-4311-9FDF-4A8B4634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依据：国内外政策义务、2026 清华治理论坛及 WAIC 高风险应用样本。</a:t>
            </a:r>
          </a:p>
        </p:txBody>
      </p:sp>
    </p:spTree>
    <p:extLst>
      <p:ext uri="{BB962C8B-B14F-4D97-AF65-F5344CB8AC3E}">
        <p14:creationId xmlns:p14="http://schemas.microsoft.com/office/powerpoint/2010/main" val="19601364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4623F-77B8-41F0-BDFF-AA57EF23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F9DCC-262A-499D-872D-1A64C101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B86"/>
                </a:solidFill>
              </a:defRPr>
            </a:pPr>
            <a:r>
              <a:rPr sz="900" b="1">
                <a:solidFill>
                  <a:srgbClr val="008B86"/>
                </a:solidFill>
              </a:rPr>
              <a:t>情景分析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2E75F-8B62-4B68-A30D-85E24884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7B75C-5BD6-4233-A72E-5186FCC7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WAIC 2018-2026 战略研究 · 供给侧窗口，不等同社会平均采用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15E40-0ACA-4603-A87E-3840B758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82E14-FB4A-427D-AE05-E5B7A9FD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12A"/>
                </a:solidFill>
              </a:defRPr>
            </a:pPr>
            <a:r>
              <a:rPr sz="3000" b="1">
                <a:solidFill>
                  <a:srgbClr val="13212A"/>
                </a:solidFill>
              </a:rPr>
              <a:t>未来三年，变量不是“AI 会不会继续”，而是可靠性与事故速度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37EE4-1EBD-493A-8264-9AFF944A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528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5E0AD-26D4-477F-9432-5BE48F94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52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A336F-031B-4422-A3AA-0EE79D98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B86"/>
                </a:solidFill>
              </a:defRPr>
            </a:pPr>
            <a:r>
              <a:rPr sz="1200" b="1">
                <a:solidFill>
                  <a:srgbClr val="008B86"/>
                </a:solidFill>
              </a:rPr>
              <a:t>A · 基准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6DEB3-F903-4319-86C1-E205DCB6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12A"/>
                </a:solidFill>
              </a:defRPr>
            </a:pPr>
            <a:r>
              <a:rPr sz="2325" b="1">
                <a:solidFill>
                  <a:srgbClr val="13212A"/>
                </a:solidFill>
              </a:rPr>
              <a:t>受控加速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BAFE4-EB47-456A-8624-07E79F84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7C"/>
                </a:solidFill>
              </a:defRPr>
            </a:pPr>
            <a:r>
              <a:rPr sz="1350" b="0">
                <a:solidFill>
                  <a:srgbClr val="61737C"/>
                </a:solidFill>
              </a:rPr>
              <a:t>软件 Agent 在工作流和公共服务继续扩张；具身从封闭环境向半开放环境推进。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D1B77-5E87-4264-9328-2F146224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7AD5E-200E-474F-B4E4-CBADE456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B86"/>
                </a:solidFill>
              </a:defRPr>
            </a:pPr>
            <a:r>
              <a:rPr sz="1200" b="1">
                <a:solidFill>
                  <a:srgbClr val="008B86"/>
                </a:solidFill>
              </a:rPr>
              <a:t>看续费、人工接管率、单位任务成本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1E3D8-9BF9-41EE-9A27-B3631A54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3528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007B2-B0A9-4EDB-82F6-6C9EF05B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352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6E0A7-ED0D-4A63-B8B1-B4497904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F93"/>
                </a:solidFill>
              </a:defRPr>
            </a:pPr>
            <a:r>
              <a:rPr sz="1200" b="1">
                <a:solidFill>
                  <a:srgbClr val="2D6F93"/>
                </a:solidFill>
              </a:rPr>
              <a:t>B · 上行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70F21-25EE-4C29-884B-76CF1E80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43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12A"/>
                </a:solidFill>
              </a:defRPr>
            </a:pPr>
            <a:r>
              <a:rPr sz="2325" b="1">
                <a:solidFill>
                  <a:srgbClr val="13212A"/>
                </a:solidFill>
              </a:rPr>
              <a:t>可靠性突破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28029-9AB8-4AAA-8A8C-213FC021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7C"/>
                </a:solidFill>
              </a:defRPr>
            </a:pPr>
            <a:r>
              <a:rPr sz="1350" b="0">
                <a:solidFill>
                  <a:srgbClr val="61737C"/>
                </a:solidFill>
              </a:rPr>
              <a:t>长任务成功率、端侧成本与执行可靠性改善，家庭和康养渗透加快。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74D3D-B658-429A-9B51-F47E0CFF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482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B4C41-E8FF-40F5-9776-B9AE34F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57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F93"/>
                </a:solidFill>
              </a:defRPr>
            </a:pPr>
            <a:r>
              <a:rPr sz="1200" b="1">
                <a:solidFill>
                  <a:srgbClr val="2D6F93"/>
                </a:solidFill>
              </a:rPr>
              <a:t>看跨场景复购、故障率、保险价格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4C8E4-84AF-4B10-9438-9E23B759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62150"/>
            <a:ext cx="33528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FB26F-ED91-4C77-B199-35E03C84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62150"/>
            <a:ext cx="3352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BF2C2-EF13-41F6-AABA-ABD061E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644B"/>
                </a:solidFill>
              </a:defRPr>
            </a:pPr>
            <a:r>
              <a:rPr sz="1200" b="1">
                <a:solidFill>
                  <a:srgbClr val="F0644B"/>
                </a:solidFill>
              </a:rPr>
              <a:t>C · 下行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A15CE-75E9-4EDD-994C-F5FEB5C0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12A"/>
                </a:solidFill>
              </a:defRPr>
            </a:pPr>
            <a:r>
              <a:rPr sz="2325" b="1">
                <a:solidFill>
                  <a:srgbClr val="13212A"/>
                </a:solidFill>
              </a:rPr>
              <a:t>事故与收紧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FF9B5-1CF5-4AFF-9B00-3777A1AD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7C"/>
                </a:solidFill>
              </a:defRPr>
            </a:pPr>
            <a:r>
              <a:rPr sz="1350" b="0">
                <a:solidFill>
                  <a:srgbClr val="61737C"/>
                </a:solidFill>
              </a:rPr>
              <a:t>越权、深伪、驾驶或儿童陪伴争议推动高风险领域强制评测和审计。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E929E-01FF-4113-BA6C-F8836A29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7C639-75D4-4CE4-B997-684F404B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57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644B"/>
                </a:solidFill>
              </a:defRPr>
            </a:pPr>
            <a:r>
              <a:rPr sz="1200" b="1">
                <a:solidFill>
                  <a:srgbClr val="F0644B"/>
                </a:solidFill>
              </a:rPr>
              <a:t>看事故报告、召回、认证和责任诉讼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67DF54-3C4C-4471-BC2B-32DEBE96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情景不是预测概率；用于定义需要持续跟踪的领先指标。</a:t>
            </a:r>
          </a:p>
        </p:txBody>
      </p:sp>
    </p:spTree>
    <p:extLst>
      <p:ext uri="{BB962C8B-B14F-4D97-AF65-F5344CB8AC3E}">
        <p14:creationId xmlns:p14="http://schemas.microsoft.com/office/powerpoint/2010/main" val="2064900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0B9A40-14A7-441A-AC7F-A5A37E31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4EC1E-C6D2-499F-9837-D3ABC528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B86"/>
                </a:solidFill>
              </a:defRPr>
            </a:pPr>
            <a:r>
              <a:rPr sz="900" b="1">
                <a:solidFill>
                  <a:srgbClr val="008B86"/>
                </a:solidFill>
              </a:rPr>
              <a:t>行动建议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59184-5588-416F-8D51-4C9872EE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71209-08F8-4EBF-9934-1BCAAAE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WAIC 2018-2026 战略研究 · 供给侧窗口，不等同社会平均采用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1B7EC-086B-4B7F-9178-6FC649D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1737C"/>
                </a:solidFill>
              </a:defRPr>
            </a:pPr>
            <a:r>
              <a:rPr sz="750" b="0">
                <a:solidFill>
                  <a:srgbClr val="61737C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DB086-0481-4B4A-A9DD-F7A2EF69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12A"/>
                </a:solidFill>
              </a:defRPr>
            </a:pPr>
            <a:r>
              <a:rPr sz="3000" b="1">
                <a:solidFill>
                  <a:srgbClr val="13212A"/>
                </a:solidFill>
              </a:rPr>
              <a:t>把“关注 AI”改成三套可执行的任务清单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7F87F-93C8-4385-8A98-BBD0FBB6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8BF63-6828-4A32-BDCC-407275C9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B86"/>
                </a:solidFill>
              </a:defRPr>
            </a:pPr>
            <a:r>
              <a:rPr sz="2250" b="1">
                <a:solidFill>
                  <a:srgbClr val="008B86"/>
                </a:solidFill>
              </a:rPr>
              <a:t>普通人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E56D9-7668-401E-837E-9A96DC47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B86"/>
                </a:solidFill>
              </a:defRPr>
            </a:pPr>
            <a:r>
              <a:rPr sz="1500" b="1">
                <a:solidFill>
                  <a:srgbClr val="008B86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45090-6D25-4DF9-81CA-7232EEE6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建立任务清单，而非追逐模型名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63096-0148-4D18-BFD1-ACE9CEFE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B86"/>
                </a:solidFill>
              </a:defRPr>
            </a:pPr>
            <a:r>
              <a:rPr sz="1500" b="1">
                <a:solidFill>
                  <a:srgbClr val="008B86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11FD9-EA16-4580-A8FD-735F73F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学习委托、验证、领域判断、权限管理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C0860-4B2D-4600-BF7F-62CC1653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B86"/>
                </a:solidFill>
              </a:defRPr>
            </a:pPr>
            <a:r>
              <a:rPr sz="1500" b="1">
                <a:solidFill>
                  <a:srgbClr val="008B8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E7857-13A3-4D6A-BC8A-6AC27958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购买持续终端时检查数据、删除、售后与儿童模式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489EA-A21A-487C-9859-998D1CBC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43100"/>
            <a:ext cx="33528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E1E99-AC22-4E44-A5E9-559CB772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288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F93"/>
                </a:solidFill>
              </a:defRPr>
            </a:pPr>
            <a:r>
              <a:rPr sz="2250" b="1">
                <a:solidFill>
                  <a:srgbClr val="2D6F93"/>
                </a:solidFill>
              </a:rPr>
              <a:t>企业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D4597-0827-4E1F-96B1-CC504B7E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F93"/>
                </a:solidFill>
              </a:defRPr>
            </a:pPr>
            <a:r>
              <a:rPr sz="1500" b="1">
                <a:solidFill>
                  <a:srgbClr val="2D6F9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DD6D9-08DD-4A1B-9DB4-6567FAC0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956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用完成率、接管率、返工率和责任成本衡量价值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3DAB9-3C80-4979-8096-501E18F2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F93"/>
                </a:solidFill>
              </a:defRPr>
            </a:pPr>
            <a:r>
              <a:rPr sz="1500" b="1">
                <a:solidFill>
                  <a:srgbClr val="2D6F93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250C5-0B04-4987-B6A2-56023886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957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先做权限清晰、失败可回滚的流程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FF86A-561C-4DBE-9759-3A1FC047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529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F93"/>
                </a:solidFill>
              </a:defRPr>
            </a:pPr>
            <a:r>
              <a:rPr sz="1500" b="1">
                <a:solidFill>
                  <a:srgbClr val="2D6F93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CBF1D-D35C-4674-976F-588D4C4B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958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把日志、评测、回滚和人工兜底写进架构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6A8DBB-6E1C-41E6-911C-52ADA897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33528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722B7A-EC8F-45D7-8BFE-D49AE189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288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644B"/>
                </a:solidFill>
              </a:defRPr>
            </a:pPr>
            <a:r>
              <a:rPr sz="2250" b="1">
                <a:solidFill>
                  <a:srgbClr val="F0644B"/>
                </a:solidFill>
              </a:rPr>
              <a:t>公共机构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8514A-4675-4ED6-B0A9-423F7D27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B"/>
                </a:solidFill>
              </a:defRPr>
            </a:pPr>
            <a:r>
              <a:rPr sz="1500" b="1">
                <a:solidFill>
                  <a:srgbClr val="F0644B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0DA6C-DF43-43FA-BC0C-3DEF6D80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保留人工通道与申诉渠道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4BCE24-BB50-4CD1-9AB4-B0243770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528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B"/>
                </a:solidFill>
              </a:defRPr>
            </a:pPr>
            <a:r>
              <a:rPr sz="1500" b="1">
                <a:solidFill>
                  <a:srgbClr val="F0644B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55A9F-5B4D-4145-B10B-588BCAE5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建设资产登记、风险分级和事件报告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499F3-7C68-4F45-842F-57E37176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B"/>
                </a:solidFill>
              </a:defRPr>
            </a:pPr>
            <a:r>
              <a:rPr sz="1500" b="1">
                <a:solidFill>
                  <a:srgbClr val="F0644B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6C47C3-88E9-48B6-A087-4E21B5D5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12A"/>
                </a:solidFill>
              </a:defRPr>
            </a:pPr>
            <a:r>
              <a:rPr sz="1275" b="0">
                <a:solidFill>
                  <a:srgbClr val="13212A"/>
                </a:solidFill>
              </a:rPr>
              <a:t>将培训升级为岗位转换与复合技能</a:t>
            </a:r>
          </a:p>
        </p:txBody>
      </p:sp>
    </p:spTree>
    <p:extLst>
      <p:ext uri="{BB962C8B-B14F-4D97-AF65-F5344CB8AC3E}">
        <p14:creationId xmlns:p14="http://schemas.microsoft.com/office/powerpoint/2010/main" val="3600212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3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C6DD3-DFE3-4299-BB8B-B339F57F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DF5C2-F9F5-420B-A19B-1E16040B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6D1C7"/>
                </a:solidFill>
              </a:defRPr>
            </a:pPr>
            <a:r>
              <a:rPr sz="1125" b="1">
                <a:solidFill>
                  <a:srgbClr val="56D1C7"/>
                </a:solidFill>
              </a:rPr>
              <a:t>最终判断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75B51-B195-475C-BA52-EB6FEFE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值得信任的 AI，必须回答四个问题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EF518-454C-4505-9619-ED8AB0F5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D6CC"/>
                </a:solidFill>
              </a:defRPr>
            </a:pPr>
            <a:r>
              <a:rPr sz="1650" b="1">
                <a:solidFill>
                  <a:srgbClr val="5ED6C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54CBC-7349-488A-8F4F-9664FC1E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669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是否有真实付费、持续使用和可复核结果？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0F360-F6BC-489A-9A52-1A8BDBAD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527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48201-854A-4C97-B1B4-818AF5B4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D6CC"/>
                </a:solidFill>
              </a:defRPr>
            </a:pPr>
            <a:r>
              <a:rPr sz="1650" b="1">
                <a:solidFill>
                  <a:srgbClr val="5ED6C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E9868-5AF1-4422-B540-6288456A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670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替代或增强了哪个步骤，失败时谁接管？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F635D-8CFB-42C3-9FF2-596474E9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528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74369-FE23-4EAE-842F-DD6A8250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D6CC"/>
                </a:solidFill>
              </a:defRPr>
            </a:pPr>
            <a:r>
              <a:rPr sz="1650" b="1">
                <a:solidFill>
                  <a:srgbClr val="5ED6C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A7292-D878-4225-88BB-75836899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671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获取了什么数据和权限，用户能否删除、退出和申诉？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A8FCB-81D9-452F-B471-6EB1CCFE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529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EC92D-FE13-4D38-8696-BD375C82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B76"/>
                </a:solidFill>
              </a:defRPr>
            </a:pPr>
            <a:r>
              <a:rPr sz="1650" b="1">
                <a:solidFill>
                  <a:srgbClr val="FF8B76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B815E-31E5-449D-A542-F539D096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6722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出现损害时，是否有证据、责任主体和救济机制？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39F3B-6303-41AF-B03D-4B8F8F6B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53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1CDD8-73B9-41D7-9A68-4C33A735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5E0E4"/>
                </a:solidFill>
              </a:defRPr>
            </a:pPr>
            <a:r>
              <a:rPr sz="1575" b="0">
                <a:solidFill>
                  <a:srgbClr val="D5E0E4"/>
                </a:solidFill>
              </a:rPr>
              <a:t>能回答这四个问题，AI 才可能从大会展品变成普通人可使用、组织可治理的基础设施。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CBE1B-5564-42BD-BE5C-A444AB07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FA2A9"/>
                </a:solidFill>
              </a:defRPr>
            </a:pPr>
            <a:r>
              <a:rPr sz="750" b="0">
                <a:solidFill>
                  <a:srgbClr val="8FA2A9"/>
                </a:solidFill>
              </a:rPr>
              <a:t>来源：WAIC 全库证据综合；WEF、ILO、LinkedIn；中国政府网、EU、OECD、UNESCO 官方资料。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30D3F-C33A-452D-B9EB-727E831D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FA2A9"/>
                </a:solidFill>
              </a:defRPr>
            </a:pPr>
            <a:r>
              <a:rPr sz="750" b="0">
                <a:solidFill>
                  <a:srgbClr val="8FA2A9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18031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2026-07-22T01:59:06.6470000Z</dcterms:created>
  <dcterms:modified xsi:type="dcterms:W3CDTF">2026-07-22T01:59:06.6470000Z</dcterms:modified>
</coreProperties>
</file>